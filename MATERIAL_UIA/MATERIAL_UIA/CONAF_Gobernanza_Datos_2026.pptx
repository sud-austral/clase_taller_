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64" d="100"/>
          <a:sy n="164" d="100"/>
        </p:scale>
        <p:origin x="-114" y="18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24475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>
            <a:off x="7406640" y="320040"/>
            <a:ext cx="1371600" cy="13716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8640" y="548640"/>
            <a:ext cx="2286000" cy="32004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2"/>
          <p:cNvSpPr/>
          <p:nvPr/>
        </p:nvSpPr>
        <p:spPr>
          <a:xfrm>
            <a:off x="548640" y="5486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4332"/>
                </a:solidFill>
              </a:rPr>
              <a:t>PMG-MEI 2025 · Horizonte 2026–2028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48640" y="118872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Transformación Digital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548640" y="18745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Gobernanza de Datos CONAF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548640" y="2606040"/>
            <a:ext cx="7680960" cy="27432"/>
          </a:xfrm>
          <a:prstGeom prst="rect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Text 6"/>
          <p:cNvSpPr/>
          <p:nvPr/>
        </p:nvSpPr>
        <p:spPr>
          <a:xfrm>
            <a:off x="548640" y="27432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al Equipo Directivo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48640" y="45262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 2026  ·  Plazo de cumplimiento: 31 de diciembre de 2026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Contexto y Objetivo del Plan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1148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4114800" cy="38404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/>
          <p:nvPr/>
        </p:nvSpPr>
        <p:spPr>
          <a:xfrm>
            <a:off x="320040" y="868680"/>
            <a:ext cx="402336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Contexto institucional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325880"/>
            <a:ext cx="39319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CONAF debe alcanzar nivel de madurez "básico" en gestión de datos como parte del PMG-MEI 2025.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Plan de Transformación Digital establece dos dimensiones prioritarias: Visión Estratégica y Gobernanza.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plazo máximo de cumplimiento es el 31 de diciembre de 2026.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plan asegura el cumplimiento con 2 meses de holgura para validación y cierre de evidencias.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868680"/>
            <a:ext cx="41148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Shape 7"/>
          <p:cNvSpPr/>
          <p:nvPr/>
        </p:nvSpPr>
        <p:spPr>
          <a:xfrm>
            <a:off x="4754880" y="868680"/>
            <a:ext cx="4114800" cy="38404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/>
          <p:nvPr/>
        </p:nvSpPr>
        <p:spPr>
          <a:xfrm>
            <a:off x="4800600" y="868680"/>
            <a:ext cx="402336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Objetivo específico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46320" y="14173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Lograr nivel de madurez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846320" y="1783080"/>
            <a:ext cx="3749040" cy="502920"/>
          </a:xfrm>
          <a:prstGeom prst="rect">
            <a:avLst/>
          </a:prstGeom>
          <a:solidFill>
            <a:srgbClr val="D8F3DC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Text 11"/>
          <p:cNvSpPr/>
          <p:nvPr/>
        </p:nvSpPr>
        <p:spPr>
          <a:xfrm>
            <a:off x="4846320" y="178308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D6A4F"/>
                </a:solidFill>
              </a:rPr>
              <a:t>"BÁSICO"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0" y="2423160"/>
            <a:ext cx="39319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Generar los fundamentos organizacionales y estratégicos para una gestión de datos orientada al valor institucional.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Mejorar la calidad de los servicios ciudadanos mediante datos confiables y bien gobernados.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Establecer una estructura formal de gobernanza con roles, políticas y herramientas básicas.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</a:rPr>
              <a:t>Plan de Transformación Digital CONAF · PMG-MEI 2025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Las 5 Actividades del Plan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201168" cy="374904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 rot="16200000">
            <a:off x="274320" y="777240"/>
            <a:ext cx="20116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VISIÓN ESTRATÉGICA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3154680"/>
            <a:ext cx="201168" cy="13716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/>
          <p:nvPr/>
        </p:nvSpPr>
        <p:spPr>
          <a:xfrm rot="16200000">
            <a:off x="274320" y="3154680"/>
            <a:ext cx="2011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GOBERNANZA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94360" y="822960"/>
            <a:ext cx="20116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Shape 7"/>
          <p:cNvSpPr/>
          <p:nvPr/>
        </p:nvSpPr>
        <p:spPr>
          <a:xfrm>
            <a:off x="594360" y="822960"/>
            <a:ext cx="2011680" cy="4572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896112"/>
            <a:ext cx="301752" cy="30175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05840" y="822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A1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67512" y="132588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Talleres directivos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67512" y="1828800"/>
            <a:ext cx="1874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Exposición de beneficios de gestión de datos al equipo directivo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2788920" y="822960"/>
            <a:ext cx="20116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Shape 12"/>
          <p:cNvSpPr/>
          <p:nvPr/>
        </p:nvSpPr>
        <p:spPr>
          <a:xfrm>
            <a:off x="2788920" y="822960"/>
            <a:ext cx="2011680" cy="4572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62072" y="896112"/>
            <a:ext cx="301752" cy="30175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200400" y="822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A2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2862072" y="132588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 clave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2862072" y="1828800"/>
            <a:ext cx="1874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y designar personas para capacitación en MGDE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4983480" y="822960"/>
            <a:ext cx="20116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Shape 17"/>
          <p:cNvSpPr/>
          <p:nvPr/>
        </p:nvSpPr>
        <p:spPr>
          <a:xfrm>
            <a:off x="4983480" y="822960"/>
            <a:ext cx="2011680" cy="4572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56632" y="896112"/>
            <a:ext cx="301752" cy="30175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394960" y="822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A3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5056632" y="132588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Alianza interinstitucional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5056632" y="1828800"/>
            <a:ext cx="1874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Colaboración con otro órgano del Estado para intercambio de datos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7178040" y="822960"/>
            <a:ext cx="20116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7" name="Shape 22"/>
          <p:cNvSpPr/>
          <p:nvPr/>
        </p:nvSpPr>
        <p:spPr>
          <a:xfrm>
            <a:off x="7178040" y="822960"/>
            <a:ext cx="2011680" cy="4572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51192" y="896112"/>
            <a:ext cx="301752" cy="301752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7589520" y="822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A4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7251192" y="132588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de éxito</a:t>
            </a:r>
            <a:endParaRPr lang="en-US" sz="1200" dirty="0"/>
          </a:p>
        </p:txBody>
      </p:sp>
      <p:sp>
        <p:nvSpPr>
          <p:cNvPr id="31" name="Text 25"/>
          <p:cNvSpPr/>
          <p:nvPr/>
        </p:nvSpPr>
        <p:spPr>
          <a:xfrm>
            <a:off x="7251192" y="1828800"/>
            <a:ext cx="1874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y documentar </a:t>
            </a:r>
            <a:r>
              <a:rPr lang="en-US" sz="11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</a:t>
            </a:r>
            <a:br>
              <a:rPr lang="en-US" sz="11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s-MX" sz="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r>
              <a:rPr lang="es-MX" sz="100" dirty="0" smtClean="0"/>
              <a:t> </a:t>
            </a:r>
            <a:r>
              <a:rPr lang="es-MX" sz="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Específico</a:t>
            </a:r>
            <a:r>
              <a:rPr lang="es-MX" sz="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br>
              <a:rPr lang="es-MX" sz="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s-MX" sz="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</a:t>
            </a:r>
            <a:r>
              <a:rPr lang="es-MX" sz="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Medible</a:t>
            </a:r>
            <a:r>
              <a:rPr lang="es-MX" sz="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br>
              <a:rPr lang="es-MX" sz="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s-MX" sz="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</a:t>
            </a:r>
            <a:r>
              <a:rPr lang="es-MX" sz="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Alcanzable</a:t>
            </a:r>
            <a:r>
              <a:rPr lang="es-MX" sz="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br>
              <a:rPr lang="es-MX" sz="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s-MX" sz="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</a:t>
            </a:r>
            <a:r>
              <a:rPr lang="es-MX" sz="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Relevante</a:t>
            </a:r>
            <a:r>
              <a:rPr lang="es-MX" sz="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br>
              <a:rPr lang="es-MX" sz="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s-MX" sz="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</a:t>
            </a:r>
            <a:r>
              <a:rPr lang="es-MX" sz="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</a:t>
            </a:r>
            <a:r>
              <a:rPr lang="en-US" sz="11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br>
              <a:rPr lang="en-US" sz="11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100" dirty="0" smtClean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la estrategia de datos</a:t>
            </a:r>
            <a:endParaRPr lang="en-US" sz="1100" dirty="0"/>
          </a:p>
        </p:txBody>
      </p:sp>
      <p:sp>
        <p:nvSpPr>
          <p:cNvPr id="32" name="Shape 26"/>
          <p:cNvSpPr/>
          <p:nvPr/>
        </p:nvSpPr>
        <p:spPr>
          <a:xfrm>
            <a:off x="594360" y="3200400"/>
            <a:ext cx="84124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3" name="Shape 27"/>
          <p:cNvSpPr/>
          <p:nvPr/>
        </p:nvSpPr>
        <p:spPr>
          <a:xfrm>
            <a:off x="594360" y="3200400"/>
            <a:ext cx="457200" cy="118872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7512" y="3547872"/>
            <a:ext cx="301752" cy="301752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2011680" y="32461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6A4F"/>
                </a:solidFill>
              </a:rPr>
              <a:t>A5</a:t>
            </a:r>
            <a:endParaRPr lang="en-US" sz="1100" dirty="0"/>
          </a:p>
        </p:txBody>
      </p:sp>
      <p:sp>
        <p:nvSpPr>
          <p:cNvPr id="36" name="Text 29"/>
          <p:cNvSpPr/>
          <p:nvPr/>
        </p:nvSpPr>
        <p:spPr>
          <a:xfrm>
            <a:off x="1234440" y="327355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Capacitación gobernanza</a:t>
            </a:r>
            <a:endParaRPr lang="en-US" sz="1400" dirty="0"/>
          </a:p>
        </p:txBody>
      </p:sp>
      <p:sp>
        <p:nvSpPr>
          <p:cNvPr id="37" name="Text 30"/>
          <p:cNvSpPr/>
          <p:nvPr/>
        </p:nvSpPr>
        <p:spPr>
          <a:xfrm>
            <a:off x="1234440" y="3749040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Seminarios sobre importancia de la gobernanza de datos</a:t>
            </a:r>
            <a:endParaRPr lang="en-US" sz="1200" dirty="0"/>
          </a:p>
        </p:txBody>
      </p:sp>
      <p:sp>
        <p:nvSpPr>
          <p:cNvPr id="38" name="Text 3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</a:rPr>
              <a:t>Plan de Transformación Digital CONAF · PMG-MEI 2025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Cronograma General · Mayo–Diciembre 2026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331720" y="685800"/>
            <a:ext cx="795528" cy="34747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2331720" y="685800"/>
            <a:ext cx="795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May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172968" y="685800"/>
            <a:ext cx="795528" cy="34747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/>
          <p:nvPr/>
        </p:nvSpPr>
        <p:spPr>
          <a:xfrm>
            <a:off x="3172968" y="685800"/>
            <a:ext cx="795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Jun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014216" y="685800"/>
            <a:ext cx="795528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/>
          <p:nvPr/>
        </p:nvSpPr>
        <p:spPr>
          <a:xfrm>
            <a:off x="4014216" y="685800"/>
            <a:ext cx="795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Jul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55464" y="685800"/>
            <a:ext cx="795528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/>
          <p:nvPr/>
        </p:nvSpPr>
        <p:spPr>
          <a:xfrm>
            <a:off x="4855464" y="685800"/>
            <a:ext cx="795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Ago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696712" y="685800"/>
            <a:ext cx="795528" cy="3474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Text 11"/>
          <p:cNvSpPr/>
          <p:nvPr/>
        </p:nvSpPr>
        <p:spPr>
          <a:xfrm>
            <a:off x="5696712" y="685800"/>
            <a:ext cx="795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Sep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537960" y="685800"/>
            <a:ext cx="795528" cy="3474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Text 13"/>
          <p:cNvSpPr/>
          <p:nvPr/>
        </p:nvSpPr>
        <p:spPr>
          <a:xfrm>
            <a:off x="6537960" y="685800"/>
            <a:ext cx="795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Oct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79208" y="685800"/>
            <a:ext cx="795528" cy="34747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Text 15"/>
          <p:cNvSpPr/>
          <p:nvPr/>
        </p:nvSpPr>
        <p:spPr>
          <a:xfrm>
            <a:off x="7379208" y="685800"/>
            <a:ext cx="795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Nov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220456" y="685800"/>
            <a:ext cx="795528" cy="34747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Text 17"/>
          <p:cNvSpPr/>
          <p:nvPr/>
        </p:nvSpPr>
        <p:spPr>
          <a:xfrm>
            <a:off x="8220456" y="685800"/>
            <a:ext cx="795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Dic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331720" y="1078992"/>
            <a:ext cx="1636776" cy="201168"/>
          </a:xfrm>
          <a:prstGeom prst="rect">
            <a:avLst/>
          </a:prstGeom>
          <a:solidFill>
            <a:srgbClr val="2D6A4F">
              <a:alpha val="30000"/>
            </a:srgbClr>
          </a:solidFill>
          <a:ln w="12700">
            <a:solidFill>
              <a:srgbClr val="2D6A4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Text 19"/>
          <p:cNvSpPr/>
          <p:nvPr/>
        </p:nvSpPr>
        <p:spPr>
          <a:xfrm>
            <a:off x="2331720" y="1078992"/>
            <a:ext cx="1636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D6A4F"/>
                </a:solidFill>
              </a:rPr>
              <a:t>Fase 1 · Fundamentos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014216" y="1078992"/>
            <a:ext cx="1636776" cy="201168"/>
          </a:xfrm>
          <a:prstGeom prst="rect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3" name="Text 21"/>
          <p:cNvSpPr/>
          <p:nvPr/>
        </p:nvSpPr>
        <p:spPr>
          <a:xfrm>
            <a:off x="4014216" y="1078992"/>
            <a:ext cx="1636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9488"/>
                </a:solidFill>
              </a:rPr>
              <a:t>Fase 2 · Gobernanza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696712" y="1078992"/>
            <a:ext cx="1636776" cy="201168"/>
          </a:xfrm>
          <a:prstGeom prst="rect">
            <a:avLst/>
          </a:prstGeom>
          <a:solidFill>
            <a:srgbClr val="D97706">
              <a:alpha val="30000"/>
            </a:srgbClr>
          </a:solidFill>
          <a:ln w="12700">
            <a:solidFill>
              <a:srgbClr val="D97706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5" name="Text 23"/>
          <p:cNvSpPr/>
          <p:nvPr/>
        </p:nvSpPr>
        <p:spPr>
          <a:xfrm>
            <a:off x="5696712" y="1078992"/>
            <a:ext cx="1636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97706"/>
                </a:solidFill>
              </a:rPr>
              <a:t>Fase 3 · Formalización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379208" y="1078992"/>
            <a:ext cx="1636776" cy="201168"/>
          </a:xfrm>
          <a:prstGeom prst="rect">
            <a:avLst/>
          </a:prstGeom>
          <a:solidFill>
            <a:srgbClr val="52B788">
              <a:alpha val="30000"/>
            </a:srgbClr>
          </a:solidFill>
          <a:ln w="12700">
            <a:solidFill>
              <a:srgbClr val="52B788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7" name="Text 25"/>
          <p:cNvSpPr/>
          <p:nvPr/>
        </p:nvSpPr>
        <p:spPr>
          <a:xfrm>
            <a:off x="7379208" y="1078992"/>
            <a:ext cx="1636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D6A4F"/>
                </a:solidFill>
              </a:rPr>
              <a:t>Fase 4 · Cierre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91440" y="1335024"/>
            <a:ext cx="21945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 · Talleres directivos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331720" y="1335024"/>
            <a:ext cx="6684264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0" name="Shape 28"/>
          <p:cNvSpPr/>
          <p:nvPr/>
        </p:nvSpPr>
        <p:spPr>
          <a:xfrm>
            <a:off x="2331720" y="1389888"/>
            <a:ext cx="1609344" cy="137160"/>
          </a:xfrm>
          <a:prstGeom prst="rect">
            <a:avLst/>
          </a:prstGeom>
          <a:solidFill>
            <a:srgbClr val="2D6A4F">
              <a:alpha val="80000"/>
            </a:srgbClr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1" name="Text 29"/>
          <p:cNvSpPr/>
          <p:nvPr/>
        </p:nvSpPr>
        <p:spPr>
          <a:xfrm>
            <a:off x="91440" y="1636776"/>
            <a:ext cx="21945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 · Personas clave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331720" y="1636776"/>
            <a:ext cx="6684264" cy="265176"/>
          </a:xfrm>
          <a:prstGeom prst="rect">
            <a:avLst/>
          </a:prstGeom>
          <a:solidFill>
            <a:srgbClr val="F0F4F1"/>
          </a:solidFill>
          <a:ln w="12700">
            <a:solidFill>
              <a:srgbClr val="E8ED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3" name="Shape 31"/>
          <p:cNvSpPr/>
          <p:nvPr/>
        </p:nvSpPr>
        <p:spPr>
          <a:xfrm>
            <a:off x="2331720" y="1691640"/>
            <a:ext cx="2450592" cy="137160"/>
          </a:xfrm>
          <a:prstGeom prst="rect">
            <a:avLst/>
          </a:prstGeom>
          <a:solidFill>
            <a:srgbClr val="2D6A4F">
              <a:alpha val="80000"/>
            </a:srgbClr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4" name="Text 32"/>
          <p:cNvSpPr/>
          <p:nvPr/>
        </p:nvSpPr>
        <p:spPr>
          <a:xfrm>
            <a:off x="91440" y="1938528"/>
            <a:ext cx="21945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 · Alianza interinstitucional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331720" y="1938528"/>
            <a:ext cx="6684264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6" name="Shape 34"/>
          <p:cNvSpPr/>
          <p:nvPr/>
        </p:nvSpPr>
        <p:spPr>
          <a:xfrm>
            <a:off x="3190090" y="2002536"/>
            <a:ext cx="2460901" cy="137160"/>
          </a:xfrm>
          <a:prstGeom prst="rect">
            <a:avLst/>
          </a:prstGeom>
          <a:solidFill>
            <a:srgbClr val="0D9488">
              <a:alpha val="8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7" name="Text 35"/>
          <p:cNvSpPr/>
          <p:nvPr/>
        </p:nvSpPr>
        <p:spPr>
          <a:xfrm>
            <a:off x="91440" y="2240280"/>
            <a:ext cx="21945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A4 · Métricas de éxito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331720" y="2240280"/>
            <a:ext cx="6684264" cy="265176"/>
          </a:xfrm>
          <a:prstGeom prst="rect">
            <a:avLst/>
          </a:prstGeom>
          <a:solidFill>
            <a:srgbClr val="F0F4F1"/>
          </a:solidFill>
          <a:ln w="12700">
            <a:solidFill>
              <a:srgbClr val="E8ED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9" name="Shape 37"/>
          <p:cNvSpPr/>
          <p:nvPr/>
        </p:nvSpPr>
        <p:spPr>
          <a:xfrm>
            <a:off x="4014216" y="2295144"/>
            <a:ext cx="1609344" cy="137160"/>
          </a:xfrm>
          <a:prstGeom prst="rect">
            <a:avLst/>
          </a:prstGeom>
          <a:solidFill>
            <a:srgbClr val="0D9488">
              <a:alpha val="8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0" name="Text 38"/>
          <p:cNvSpPr/>
          <p:nvPr/>
        </p:nvSpPr>
        <p:spPr>
          <a:xfrm>
            <a:off x="91440" y="2542032"/>
            <a:ext cx="21945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A5 · Capacitación gobernanza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331720" y="2542032"/>
            <a:ext cx="6684264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2" name="Shape 40"/>
          <p:cNvSpPr/>
          <p:nvPr/>
        </p:nvSpPr>
        <p:spPr>
          <a:xfrm>
            <a:off x="4014216" y="2596896"/>
            <a:ext cx="1609344" cy="137160"/>
          </a:xfrm>
          <a:prstGeom prst="rect">
            <a:avLst/>
          </a:prstGeom>
          <a:solidFill>
            <a:srgbClr val="0D9488">
              <a:alpha val="8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3" name="Text 41"/>
          <p:cNvSpPr/>
          <p:nvPr/>
        </p:nvSpPr>
        <p:spPr>
          <a:xfrm>
            <a:off x="91440" y="2843784"/>
            <a:ext cx="21945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Capacitación MGDE personas clave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331720" y="2843784"/>
            <a:ext cx="6684264" cy="265176"/>
          </a:xfrm>
          <a:prstGeom prst="rect">
            <a:avLst/>
          </a:prstGeom>
          <a:solidFill>
            <a:srgbClr val="F0F4F1"/>
          </a:solidFill>
          <a:ln w="12700">
            <a:solidFill>
              <a:srgbClr val="E8ED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5" name="Shape 43"/>
          <p:cNvSpPr/>
          <p:nvPr/>
        </p:nvSpPr>
        <p:spPr>
          <a:xfrm>
            <a:off x="5696712" y="2967228"/>
            <a:ext cx="1609344" cy="68580"/>
          </a:xfrm>
          <a:prstGeom prst="rect">
            <a:avLst/>
          </a:prstGeom>
          <a:solidFill>
            <a:srgbClr val="D97706">
              <a:alpha val="80000"/>
            </a:srgbClr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6" name="Text 44"/>
          <p:cNvSpPr/>
          <p:nvPr/>
        </p:nvSpPr>
        <p:spPr>
          <a:xfrm>
            <a:off x="91440" y="3145536"/>
            <a:ext cx="21945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Documentación gobernanza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2331720" y="3145536"/>
            <a:ext cx="6684264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8" name="Shape 46"/>
          <p:cNvSpPr/>
          <p:nvPr/>
        </p:nvSpPr>
        <p:spPr>
          <a:xfrm>
            <a:off x="5696712" y="3200400"/>
            <a:ext cx="1609344" cy="137160"/>
          </a:xfrm>
          <a:prstGeom prst="rect">
            <a:avLst/>
          </a:prstGeom>
          <a:solidFill>
            <a:srgbClr val="D97706">
              <a:alpha val="80000"/>
            </a:srgbClr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9" name="Text 47"/>
          <p:cNvSpPr/>
          <p:nvPr/>
        </p:nvSpPr>
        <p:spPr>
          <a:xfrm>
            <a:off x="91440" y="3447288"/>
            <a:ext cx="21945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Consolidación evidencias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2331720" y="3447288"/>
            <a:ext cx="6684264" cy="265176"/>
          </a:xfrm>
          <a:prstGeom prst="rect">
            <a:avLst/>
          </a:prstGeom>
          <a:solidFill>
            <a:srgbClr val="F0F4F1"/>
          </a:solidFill>
          <a:ln w="12700">
            <a:solidFill>
              <a:srgbClr val="E8ED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1" name="Shape 49"/>
          <p:cNvSpPr/>
          <p:nvPr/>
        </p:nvSpPr>
        <p:spPr>
          <a:xfrm>
            <a:off x="5696712" y="3502152"/>
            <a:ext cx="1609344" cy="137160"/>
          </a:xfrm>
          <a:prstGeom prst="rect">
            <a:avLst/>
          </a:prstGeom>
          <a:solidFill>
            <a:srgbClr val="D97706">
              <a:alpha val="80000"/>
            </a:srgbClr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2" name="Text 50"/>
          <p:cNvSpPr/>
          <p:nvPr/>
        </p:nvSpPr>
        <p:spPr>
          <a:xfrm>
            <a:off x="91440" y="3749040"/>
            <a:ext cx="21945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Revisión y validación interna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2331720" y="3749040"/>
            <a:ext cx="6684264" cy="26517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4" name="Shape 52"/>
          <p:cNvSpPr/>
          <p:nvPr/>
        </p:nvSpPr>
        <p:spPr>
          <a:xfrm>
            <a:off x="7379208" y="3803904"/>
            <a:ext cx="1609344" cy="137160"/>
          </a:xfrm>
          <a:prstGeom prst="rect">
            <a:avLst/>
          </a:prstGeom>
          <a:solidFill>
            <a:srgbClr val="52B788">
              <a:alpha val="70000"/>
            </a:srgbClr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5" name="Text 53"/>
          <p:cNvSpPr/>
          <p:nvPr/>
        </p:nvSpPr>
        <p:spPr>
          <a:xfrm>
            <a:off x="91440" y="4050792"/>
            <a:ext cx="21945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Entrega formal PMG-MEI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2331720" y="4050792"/>
            <a:ext cx="6684264" cy="265176"/>
          </a:xfrm>
          <a:prstGeom prst="rect">
            <a:avLst/>
          </a:prstGeom>
          <a:solidFill>
            <a:srgbClr val="F0F4F1"/>
          </a:solidFill>
          <a:ln w="12700">
            <a:solidFill>
              <a:srgbClr val="E8ED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7" name="Shape 55"/>
          <p:cNvSpPr/>
          <p:nvPr/>
        </p:nvSpPr>
        <p:spPr>
          <a:xfrm>
            <a:off x="8220456" y="4105656"/>
            <a:ext cx="1272845" cy="137160"/>
          </a:xfrm>
          <a:prstGeom prst="rect">
            <a:avLst/>
          </a:prstGeom>
          <a:solidFill>
            <a:srgbClr val="52B788">
              <a:alpha val="70000"/>
            </a:srgbClr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8" name="Shape 56"/>
          <p:cNvSpPr/>
          <p:nvPr/>
        </p:nvSpPr>
        <p:spPr>
          <a:xfrm>
            <a:off x="8725205" y="685800"/>
            <a:ext cx="0" cy="3657600"/>
          </a:xfrm>
          <a:prstGeom prst="line">
            <a:avLst/>
          </a:prstGeom>
          <a:noFill/>
          <a:ln w="19050">
            <a:solidFill>
              <a:srgbClr val="DC2626"/>
            </a:solidFill>
            <a:prstDash val="dash"/>
          </a:ln>
        </p:spPr>
        <p:txBody>
          <a:bodyPr/>
          <a:lstStyle/>
          <a:p>
            <a:endParaRPr lang="es-CL"/>
          </a:p>
        </p:txBody>
      </p:sp>
      <p:sp>
        <p:nvSpPr>
          <p:cNvPr id="59" name="Text 57"/>
          <p:cNvSpPr/>
          <p:nvPr/>
        </p:nvSpPr>
        <p:spPr>
          <a:xfrm>
            <a:off x="8633765" y="713232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C2626"/>
                </a:solidFill>
              </a:rPr>
              <a:t>31 dic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</a:rPr>
              <a:t>Plan de Transformación Digital CONAF · PMG-MEI 2025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109728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A1 · Talleres con el Equipo Directivo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274320" y="777240"/>
            <a:ext cx="1828800" cy="320040"/>
          </a:xfrm>
          <a:prstGeom prst="roundRect">
            <a:avLst>
              <a:gd name="adj" fmla="val 14286"/>
            </a:avLst>
          </a:prstGeom>
          <a:solidFill>
            <a:srgbClr val="D8F3DC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3"/>
          <p:cNvSpPr/>
          <p:nvPr/>
        </p:nvSpPr>
        <p:spPr>
          <a:xfrm>
            <a:off x="274320" y="777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6A4F"/>
                </a:solidFill>
              </a:rPr>
              <a:t>Mayo–Junio 2026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194560" y="777240"/>
            <a:ext cx="2011680" cy="320040"/>
          </a:xfrm>
          <a:prstGeom prst="roundRect">
            <a:avLst>
              <a:gd name="adj" fmla="val 14286"/>
            </a:avLst>
          </a:prstGeom>
          <a:solidFill>
            <a:srgbClr val="D8F3DC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5"/>
          <p:cNvSpPr/>
          <p:nvPr/>
        </p:nvSpPr>
        <p:spPr>
          <a:xfrm>
            <a:off x="2194560" y="7772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6A4F"/>
                </a:solidFill>
              </a:rPr>
              <a:t>Visión Estratégica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74320" y="1188720"/>
            <a:ext cx="393192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Shape 7"/>
          <p:cNvSpPr/>
          <p:nvPr/>
        </p:nvSpPr>
        <p:spPr>
          <a:xfrm>
            <a:off x="274320" y="1188720"/>
            <a:ext cx="3931920" cy="34747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8"/>
          <p:cNvSpPr/>
          <p:nvPr/>
        </p:nvSpPr>
        <p:spPr>
          <a:xfrm>
            <a:off x="320040" y="1188720"/>
            <a:ext cx="384048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Contenido de los talleres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65760" y="162763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1 (Junio)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365760" y="190195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Exposición de beneficios de la gestión de datos en instituciones públicas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365760" y="219456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del MGDE y su relevancia para CONAF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365760" y="248716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valor público y mejora de servicios ciudadanos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365760" y="2779776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Levantamiento de expectativas y compromisos directivos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365760" y="314553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2 (Julio)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365760" y="3419856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de estructura inicial de gobernanza de datos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365760" y="3712464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y responsabilidades: Comité de Datos, referentes de área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365760" y="400507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de la propuesta con el directivo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365760" y="429768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 de próximos pasos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4480560" y="1188720"/>
            <a:ext cx="43891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3" name="Shape 20"/>
          <p:cNvSpPr/>
          <p:nvPr/>
        </p:nvSpPr>
        <p:spPr>
          <a:xfrm>
            <a:off x="4480560" y="1188720"/>
            <a:ext cx="4389120" cy="34747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4" name="Text 21"/>
          <p:cNvSpPr/>
          <p:nvPr/>
        </p:nvSpPr>
        <p:spPr>
          <a:xfrm>
            <a:off x="4526280" y="1188720"/>
            <a:ext cx="429768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Logística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4572000" y="1591056"/>
            <a:ext cx="4206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Formato: presencial, </a:t>
            </a:r>
            <a:r>
              <a:rPr lang="en-US" sz="1100" dirty="0" smtClean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1–1:30 </a:t>
            </a: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horas por sesión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Convocatoria: con 10 días hábiles de anticipación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Participantes: todo el equipo directivo CONAF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Registro: acta, lista de asistencia y fotografías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4480560" y="2907792"/>
            <a:ext cx="4389120" cy="1801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7" name="Shape 24"/>
          <p:cNvSpPr/>
          <p:nvPr/>
        </p:nvSpPr>
        <p:spPr>
          <a:xfrm>
            <a:off x="4480560" y="2907792"/>
            <a:ext cx="4389120" cy="34747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8" name="Text 25"/>
          <p:cNvSpPr/>
          <p:nvPr/>
        </p:nvSpPr>
        <p:spPr>
          <a:xfrm>
            <a:off x="4526280" y="2907792"/>
            <a:ext cx="429768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Materiales a elaborar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4572000" y="3310128"/>
            <a:ext cx="4206240" cy="1353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ejecutiva (PPT, máx. 15 slides)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facilitación con preguntas orientadoras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Acta de taller con compromisos firmados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Encuesta de satisfacción post-taller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</a:rPr>
              <a:t>Plan de Transformación Digital CONAF · PMG-MEI 2025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109728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A2 · Identificación y Designación de Personas Clave</a:t>
            </a:r>
            <a:endParaRPr lang="en-US" sz="1700" dirty="0"/>
          </a:p>
        </p:txBody>
      </p:sp>
      <p:sp>
        <p:nvSpPr>
          <p:cNvPr id="5" name="Shape 2"/>
          <p:cNvSpPr/>
          <p:nvPr/>
        </p:nvSpPr>
        <p:spPr>
          <a:xfrm>
            <a:off x="274320" y="777240"/>
            <a:ext cx="1828800" cy="320040"/>
          </a:xfrm>
          <a:prstGeom prst="roundRect">
            <a:avLst>
              <a:gd name="adj" fmla="val 14286"/>
            </a:avLst>
          </a:prstGeom>
          <a:solidFill>
            <a:srgbClr val="D8F3DC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3"/>
          <p:cNvSpPr/>
          <p:nvPr/>
        </p:nvSpPr>
        <p:spPr>
          <a:xfrm>
            <a:off x="274320" y="777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6A4F"/>
                </a:solidFill>
              </a:rPr>
              <a:t>Mayo 2026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74320" y="1207008"/>
            <a:ext cx="27432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Shape 5"/>
          <p:cNvSpPr/>
          <p:nvPr/>
        </p:nvSpPr>
        <p:spPr>
          <a:xfrm>
            <a:off x="274320" y="1207008"/>
            <a:ext cx="2743200" cy="34747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Text 6"/>
          <p:cNvSpPr/>
          <p:nvPr/>
        </p:nvSpPr>
        <p:spPr>
          <a:xfrm>
            <a:off x="347472" y="1207008"/>
            <a:ext cx="2596896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Perfil técnico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65760" y="1609344"/>
            <a:ext cx="256032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Profesionales de TI, sistemas o datos con capacidad de implementar herramientas de gestión de datos.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00400" y="1207008"/>
            <a:ext cx="27432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Shape 9"/>
          <p:cNvSpPr/>
          <p:nvPr/>
        </p:nvSpPr>
        <p:spPr>
          <a:xfrm>
            <a:off x="3200400" y="1207008"/>
            <a:ext cx="2743200" cy="34747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Text 10"/>
          <p:cNvSpPr/>
          <p:nvPr/>
        </p:nvSpPr>
        <p:spPr>
          <a:xfrm>
            <a:off x="3273552" y="1207008"/>
            <a:ext cx="2596896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Perfil de gestión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291840" y="1609344"/>
            <a:ext cx="256032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Coordinadores o jefes de unidad con capacidad de tomar decisiones sobre el uso de datos institucionales.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126480" y="1207008"/>
            <a:ext cx="27432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Shape 13"/>
          <p:cNvSpPr/>
          <p:nvPr/>
        </p:nvSpPr>
        <p:spPr>
          <a:xfrm>
            <a:off x="6126480" y="1207008"/>
            <a:ext cx="2743200" cy="34747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Text 14"/>
          <p:cNvSpPr/>
          <p:nvPr/>
        </p:nvSpPr>
        <p:spPr>
          <a:xfrm>
            <a:off x="6199632" y="1207008"/>
            <a:ext cx="2596896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Perfil transversal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217920" y="1609344"/>
            <a:ext cx="256032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Referentes de áreas programáticas (incendios, biodiversidad, áreas silvestres) para asegurar representatividad.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274320" y="297180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" name="Shape 17"/>
          <p:cNvSpPr/>
          <p:nvPr/>
        </p:nvSpPr>
        <p:spPr>
          <a:xfrm>
            <a:off x="274320" y="2971800"/>
            <a:ext cx="4114800" cy="34747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Text 18"/>
          <p:cNvSpPr/>
          <p:nvPr/>
        </p:nvSpPr>
        <p:spPr>
          <a:xfrm>
            <a:off x="320040" y="2971800"/>
            <a:ext cx="402336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Criterios de selección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365760" y="3364992"/>
            <a:ext cx="39319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Disponibilidad confirmada para participar en capacitación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Vinculación directa con datos o procesos de gestión institucional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Representatividad de las principales áreas de CONAF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Continuidad esperada en el cargo durante 2026–2027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663440" y="2971800"/>
            <a:ext cx="4206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4" name="Shape 21"/>
          <p:cNvSpPr/>
          <p:nvPr/>
        </p:nvSpPr>
        <p:spPr>
          <a:xfrm>
            <a:off x="4663440" y="2971800"/>
            <a:ext cx="4206240" cy="34747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5" name="Text 22"/>
          <p:cNvSpPr/>
          <p:nvPr/>
        </p:nvSpPr>
        <p:spPr>
          <a:xfrm>
            <a:off x="4709160" y="2971800"/>
            <a:ext cx="411480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Entregables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4754880" y="3364992"/>
            <a:ext cx="40233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Resolución o memorándum de designación formal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Listado con nombre, cargo y área de cada persona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Confirmación de disponibilidad firmada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</a:rPr>
              <a:t>Plan de Transformación Digital CONAF · PMG-MEI 2025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109728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A3 · Alianza de Colaboración Interinstitucional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274320" y="777240"/>
            <a:ext cx="2011680" cy="320040"/>
          </a:xfrm>
          <a:prstGeom prst="round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3"/>
          <p:cNvSpPr/>
          <p:nvPr/>
        </p:nvSpPr>
        <p:spPr>
          <a:xfrm>
            <a:off x="274320" y="7772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</a:rPr>
              <a:t>Julio–Agosto 2026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74320" y="1216152"/>
            <a:ext cx="155448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5"/>
          <p:cNvSpPr/>
          <p:nvPr/>
        </p:nvSpPr>
        <p:spPr>
          <a:xfrm>
            <a:off x="274320" y="1216152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21792" y="1216152"/>
            <a:ext cx="118872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Identificar organismos candidatos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1856232" y="1261872"/>
            <a:ext cx="182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9488"/>
                </a:solidFill>
              </a:rPr>
              <a:t>›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1993392" y="1216152"/>
            <a:ext cx="1554480" cy="502920"/>
          </a:xfrm>
          <a:prstGeom prst="rect">
            <a:avLst/>
          </a:prstGeom>
          <a:solidFill>
            <a:srgbClr val="0D9488">
              <a:alpha val="85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Text 9"/>
          <p:cNvSpPr/>
          <p:nvPr/>
        </p:nvSpPr>
        <p:spPr>
          <a:xfrm>
            <a:off x="1993392" y="1216152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2340864" y="1216152"/>
            <a:ext cx="118872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Primer contacto formal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3575304" y="1261872"/>
            <a:ext cx="182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9488"/>
                </a:solidFill>
              </a:rPr>
              <a:t>›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3712464" y="1216152"/>
            <a:ext cx="1554480" cy="502920"/>
          </a:xfrm>
          <a:prstGeom prst="rect">
            <a:avLst/>
          </a:prstGeom>
          <a:solidFill>
            <a:srgbClr val="0D9488">
              <a:alpha val="7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Text 13"/>
          <p:cNvSpPr/>
          <p:nvPr/>
        </p:nvSpPr>
        <p:spPr>
          <a:xfrm>
            <a:off x="3712464" y="1216152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4059936" y="1216152"/>
            <a:ext cx="118872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Reunión de trabajo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5294376" y="1261872"/>
            <a:ext cx="182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9488"/>
                </a:solidFill>
              </a:rPr>
              <a:t>›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5431536" y="1216152"/>
            <a:ext cx="1554480" cy="502920"/>
          </a:xfrm>
          <a:prstGeom prst="rect">
            <a:avLst/>
          </a:prstGeom>
          <a:solidFill>
            <a:srgbClr val="0D9488">
              <a:alpha val="55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" name="Text 17"/>
          <p:cNvSpPr/>
          <p:nvPr/>
        </p:nvSpPr>
        <p:spPr>
          <a:xfrm>
            <a:off x="5431536" y="1216152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5779008" y="1216152"/>
            <a:ext cx="118872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Definir dataset piloto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7013448" y="1261872"/>
            <a:ext cx="182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9488"/>
                </a:solidFill>
              </a:rPr>
              <a:t>›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7150608" y="1216152"/>
            <a:ext cx="1554480" cy="502920"/>
          </a:xfrm>
          <a:prstGeom prst="rect">
            <a:avLst/>
          </a:prstGeom>
          <a:solidFill>
            <a:srgbClr val="0D9488">
              <a:alpha val="4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4" name="Text 21"/>
          <p:cNvSpPr/>
          <p:nvPr/>
        </p:nvSpPr>
        <p:spPr>
          <a:xfrm>
            <a:off x="7150608" y="1216152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7498080" y="1216152"/>
            <a:ext cx="118872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Firma MOU / Carta de intención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274320" y="1874520"/>
            <a:ext cx="411480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7" name="Shape 24"/>
          <p:cNvSpPr/>
          <p:nvPr/>
        </p:nvSpPr>
        <p:spPr>
          <a:xfrm>
            <a:off x="274320" y="1874520"/>
            <a:ext cx="411480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8" name="Text 25"/>
          <p:cNvSpPr/>
          <p:nvPr/>
        </p:nvSpPr>
        <p:spPr>
          <a:xfrm>
            <a:off x="320040" y="1874520"/>
            <a:ext cx="402336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Organismos candidatos (ejemplos)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347472" y="2304288"/>
            <a:ext cx="502920" cy="320040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0" name="Text 27"/>
          <p:cNvSpPr/>
          <p:nvPr/>
        </p:nvSpPr>
        <p:spPr>
          <a:xfrm>
            <a:off x="347472" y="230428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9488"/>
                </a:solidFill>
              </a:rPr>
              <a:t>SAG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914400" y="2322576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fitosanitarios y uso de suelo de interés forestal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347472" y="2734056"/>
            <a:ext cx="502920" cy="320040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3" name="Text 30"/>
          <p:cNvSpPr/>
          <p:nvPr/>
        </p:nvSpPr>
        <p:spPr>
          <a:xfrm>
            <a:off x="347472" y="2734056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9488"/>
                </a:solidFill>
              </a:rPr>
              <a:t>MMA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914400" y="2752344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de biodiversidad y cambio climático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347472" y="3163824"/>
            <a:ext cx="502920" cy="320040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6" name="Text 33"/>
          <p:cNvSpPr/>
          <p:nvPr/>
        </p:nvSpPr>
        <p:spPr>
          <a:xfrm>
            <a:off x="347472" y="3163824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9488"/>
                </a:solidFill>
              </a:rPr>
              <a:t>ONEMI / SENAPRED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914400" y="318211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de incendios forestales y emergencias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347472" y="3593592"/>
            <a:ext cx="502920" cy="320040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9" name="Text 36"/>
          <p:cNvSpPr/>
          <p:nvPr/>
        </p:nvSpPr>
        <p:spPr>
          <a:xfrm>
            <a:off x="347472" y="359359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9488"/>
                </a:solidFill>
              </a:rPr>
              <a:t>INE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914400" y="36118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Estadísticas territoriales y demográficas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347472" y="4023360"/>
            <a:ext cx="502920" cy="320040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2" name="Text 39"/>
          <p:cNvSpPr/>
          <p:nvPr/>
        </p:nvSpPr>
        <p:spPr>
          <a:xfrm>
            <a:off x="347472" y="402336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9488"/>
                </a:solidFill>
              </a:rPr>
              <a:t>MOP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914400" y="404164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de cuencas y recursos hídricos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663440" y="1874520"/>
            <a:ext cx="420624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5" name="Shape 42"/>
          <p:cNvSpPr/>
          <p:nvPr/>
        </p:nvSpPr>
        <p:spPr>
          <a:xfrm>
            <a:off x="4663440" y="1874520"/>
            <a:ext cx="420624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6" name="Text 43"/>
          <p:cNvSpPr/>
          <p:nvPr/>
        </p:nvSpPr>
        <p:spPr>
          <a:xfrm>
            <a:off x="4709160" y="1874520"/>
            <a:ext cx="411480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Entregables requeridos</a:t>
            </a:r>
            <a:endParaRPr lang="en-US" sz="1200" dirty="0"/>
          </a:p>
        </p:txBody>
      </p:sp>
      <p:pic>
        <p:nvPicPr>
          <p:cNvPr id="4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6592" y="2304288"/>
            <a:ext cx="256032" cy="256032"/>
          </a:xfrm>
          <a:prstGeom prst="rect">
            <a:avLst/>
          </a:prstGeom>
        </p:spPr>
      </p:pic>
      <p:sp>
        <p:nvSpPr>
          <p:cNvPr id="48" name="Text 44"/>
          <p:cNvSpPr/>
          <p:nvPr/>
        </p:nvSpPr>
        <p:spPr>
          <a:xfrm>
            <a:off x="5047488" y="2295144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Acta de reunión con el organismo contraparte</a:t>
            </a:r>
            <a:endParaRPr lang="en-US" sz="1100" dirty="0"/>
          </a:p>
        </p:txBody>
      </p:sp>
      <p:pic>
        <p:nvPicPr>
          <p:cNvPr id="4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6592" y="2734056"/>
            <a:ext cx="256032" cy="256032"/>
          </a:xfrm>
          <a:prstGeom prst="rect">
            <a:avLst/>
          </a:prstGeom>
        </p:spPr>
      </p:pic>
      <p:sp>
        <p:nvSpPr>
          <p:cNvPr id="50" name="Text 45"/>
          <p:cNvSpPr/>
          <p:nvPr/>
        </p:nvSpPr>
        <p:spPr>
          <a:xfrm>
            <a:off x="5047488" y="272491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Carta formal de propuesta de colaboración</a:t>
            </a:r>
            <a:endParaRPr lang="en-US" sz="1100" dirty="0"/>
          </a:p>
        </p:txBody>
      </p:sp>
      <p:pic>
        <p:nvPicPr>
          <p:cNvPr id="5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6592" y="3163824"/>
            <a:ext cx="256032" cy="256032"/>
          </a:xfrm>
          <a:prstGeom prst="rect">
            <a:avLst/>
          </a:prstGeom>
        </p:spPr>
      </p:pic>
      <p:sp>
        <p:nvSpPr>
          <p:cNvPr id="52" name="Text 46"/>
          <p:cNvSpPr/>
          <p:nvPr/>
        </p:nvSpPr>
        <p:spPr>
          <a:xfrm>
            <a:off x="5047488" y="31546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 o Carta de intención firmada (nivel directivo)</a:t>
            </a:r>
            <a:endParaRPr lang="en-US" sz="1100" dirty="0"/>
          </a:p>
        </p:txBody>
      </p:sp>
      <p:pic>
        <p:nvPicPr>
          <p:cNvPr id="53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6592" y="3593592"/>
            <a:ext cx="256032" cy="256032"/>
          </a:xfrm>
          <a:prstGeom prst="rect">
            <a:avLst/>
          </a:prstGeom>
        </p:spPr>
      </p:pic>
      <p:sp>
        <p:nvSpPr>
          <p:cNvPr id="54" name="Text 47"/>
          <p:cNvSpPr/>
          <p:nvPr/>
        </p:nvSpPr>
        <p:spPr>
          <a:xfrm>
            <a:off x="5047488" y="358444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Identificación del dataset o ámbito de intercambio</a:t>
            </a:r>
            <a:endParaRPr lang="en-US" sz="1100" dirty="0"/>
          </a:p>
        </p:txBody>
      </p:sp>
      <p:pic>
        <p:nvPicPr>
          <p:cNvPr id="55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6592" y="4023360"/>
            <a:ext cx="256032" cy="256032"/>
          </a:xfrm>
          <a:prstGeom prst="rect">
            <a:avLst/>
          </a:prstGeom>
        </p:spPr>
      </p:pic>
      <p:sp>
        <p:nvSpPr>
          <p:cNvPr id="56" name="Text 48"/>
          <p:cNvSpPr/>
          <p:nvPr/>
        </p:nvSpPr>
        <p:spPr>
          <a:xfrm>
            <a:off x="5047488" y="4014216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Correos de coordinación como evidencia de proceso</a:t>
            </a:r>
            <a:endParaRPr lang="en-US" sz="1100" dirty="0"/>
          </a:p>
        </p:txBody>
      </p:sp>
      <p:sp>
        <p:nvSpPr>
          <p:cNvPr id="57" name="Text 49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</a:rPr>
              <a:t>Plan de Transformación Digital CONAF · PMG-MEI 2025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109728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A4 · Definición de Métricas de Éxito de la Estrategia</a:t>
            </a:r>
            <a:endParaRPr lang="en-US" sz="1700" dirty="0"/>
          </a:p>
        </p:txBody>
      </p:sp>
      <p:sp>
        <p:nvSpPr>
          <p:cNvPr id="5" name="Shape 2"/>
          <p:cNvSpPr/>
          <p:nvPr/>
        </p:nvSpPr>
        <p:spPr>
          <a:xfrm>
            <a:off x="274320" y="777240"/>
            <a:ext cx="1828800" cy="320040"/>
          </a:xfrm>
          <a:prstGeom prst="round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3"/>
          <p:cNvSpPr/>
          <p:nvPr/>
        </p:nvSpPr>
        <p:spPr>
          <a:xfrm>
            <a:off x="274320" y="777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</a:rPr>
              <a:t>Agosto 2026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74320" y="1207008"/>
            <a:ext cx="8595360" cy="457200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5"/>
          <p:cNvSpPr/>
          <p:nvPr/>
        </p:nvSpPr>
        <p:spPr>
          <a:xfrm>
            <a:off x="320040" y="1207008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9488"/>
                </a:solidFill>
              </a:rPr>
              <a:t>Las métricas deberán ser SMART: Específicas · Medibles · Alcanzables · Relevantes · con Tiempo definido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74320" y="1792224"/>
            <a:ext cx="8595360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Text 7"/>
          <p:cNvSpPr/>
          <p:nvPr/>
        </p:nvSpPr>
        <p:spPr>
          <a:xfrm>
            <a:off x="320040" y="1792224"/>
            <a:ext cx="137160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Área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737360" y="1792224"/>
            <a:ext cx="420624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Indicador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989320" y="1792224"/>
            <a:ext cx="137160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Meta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406640" y="1792224"/>
            <a:ext cx="141732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Frecuencia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274320" y="2194560"/>
            <a:ext cx="85953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Text 12"/>
          <p:cNvSpPr/>
          <p:nvPr/>
        </p:nvSpPr>
        <p:spPr>
          <a:xfrm>
            <a:off x="320040" y="2194560"/>
            <a:ext cx="137160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Capacitación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1737360" y="2194560"/>
            <a:ext cx="420624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personas clave capacitadas en MGDE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989320" y="2194560"/>
            <a:ext cx="137160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 smtClean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</a:t>
            </a: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7406640" y="2194560"/>
            <a:ext cx="141732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Única vez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274320" y="2670048"/>
            <a:ext cx="8595360" cy="438912"/>
          </a:xfrm>
          <a:prstGeom prst="rect">
            <a:avLst/>
          </a:prstGeom>
          <a:solidFill>
            <a:srgbClr val="F0F8F4"/>
          </a:solidFill>
          <a:ln w="12700">
            <a:solidFill>
              <a:srgbClr val="E8ED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" name="Text 17"/>
          <p:cNvSpPr/>
          <p:nvPr/>
        </p:nvSpPr>
        <p:spPr>
          <a:xfrm>
            <a:off x="320040" y="2670048"/>
            <a:ext cx="137160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Gobernanza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1737360" y="2670048"/>
            <a:ext cx="420624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Nº de roles de datos formalmente designados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989320" y="2670048"/>
            <a:ext cx="137160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</a:t>
            </a:r>
            <a:r>
              <a:rPr lang="en-US" sz="1100" b="1" dirty="0" smtClean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7406640" y="2670048"/>
            <a:ext cx="141732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Semestral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274320" y="3145536"/>
            <a:ext cx="85953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5" name="Text 22"/>
          <p:cNvSpPr/>
          <p:nvPr/>
        </p:nvSpPr>
        <p:spPr>
          <a:xfrm>
            <a:off x="320040" y="3145536"/>
            <a:ext cx="137160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 de datos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1737360" y="3145536"/>
            <a:ext cx="420624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datasets con propietario de datos asignado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5989320" y="3145536"/>
            <a:ext cx="137160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50%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7406640" y="3145536"/>
            <a:ext cx="141732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Semestral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274320" y="3621024"/>
            <a:ext cx="8595360" cy="438912"/>
          </a:xfrm>
          <a:prstGeom prst="rect">
            <a:avLst/>
          </a:prstGeom>
          <a:solidFill>
            <a:srgbClr val="F0F8F4"/>
          </a:solidFill>
          <a:ln w="12700">
            <a:solidFill>
              <a:srgbClr val="E8ED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0" name="Text 27"/>
          <p:cNvSpPr/>
          <p:nvPr/>
        </p:nvSpPr>
        <p:spPr>
          <a:xfrm>
            <a:off x="320040" y="3621024"/>
            <a:ext cx="137160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Alianzas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1737360" y="3621024"/>
            <a:ext cx="420624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Nº de acuerdos de intercambio de datos vigentes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5989320" y="3621024"/>
            <a:ext cx="137160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1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7406640" y="3621024"/>
            <a:ext cx="141732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Anual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274320" y="4096512"/>
            <a:ext cx="85953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5" name="Text 32"/>
          <p:cNvSpPr/>
          <p:nvPr/>
        </p:nvSpPr>
        <p:spPr>
          <a:xfrm>
            <a:off x="320040" y="4096512"/>
            <a:ext cx="137160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Madurez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1737360" y="4096512"/>
            <a:ext cx="420624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Puntaje en autoevaluación MGDE (nivel básico)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5989320" y="4096512"/>
            <a:ext cx="137160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básico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7406640" y="4096512"/>
            <a:ext cx="141732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Anual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274320" y="4645152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elaborará una ficha individual por cada indicador con fórmula de cálculo, fuente de datos y responsable de reporte.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</a:rPr>
              <a:t>Plan de Transformación Digital CONAF · PMG-MEI 2025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109728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4332"/>
                </a:solidFill>
              </a:rPr>
              <a:t>A5 · Capacitación Institucional en Gobernanza de Datos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274320" y="777240"/>
            <a:ext cx="1828800" cy="320040"/>
          </a:xfrm>
          <a:prstGeom prst="roundRect">
            <a:avLst>
              <a:gd name="adj" fmla="val 14286"/>
            </a:avLst>
          </a:prstGeom>
          <a:solidFill>
            <a:srgbClr val="D8F3DC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3"/>
          <p:cNvSpPr/>
          <p:nvPr/>
        </p:nvSpPr>
        <p:spPr>
          <a:xfrm>
            <a:off x="274320" y="777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6A4F"/>
                </a:solidFill>
              </a:rPr>
              <a:t>Julio 2026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194560" y="777240"/>
            <a:ext cx="1645920" cy="320040"/>
          </a:xfrm>
          <a:prstGeom prst="roundRect">
            <a:avLst>
              <a:gd name="adj" fmla="val 14286"/>
            </a:avLst>
          </a:prstGeom>
          <a:solidFill>
            <a:srgbClr val="D8F3DC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5"/>
          <p:cNvSpPr/>
          <p:nvPr/>
        </p:nvSpPr>
        <p:spPr>
          <a:xfrm>
            <a:off x="2194560" y="7772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6A4F"/>
                </a:solidFill>
              </a:rPr>
              <a:t>Gobernanza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74320" y="1207008"/>
            <a:ext cx="39319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Shape 7"/>
          <p:cNvSpPr/>
          <p:nvPr/>
        </p:nvSpPr>
        <p:spPr>
          <a:xfrm>
            <a:off x="274320" y="1207008"/>
            <a:ext cx="3931920" cy="34747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8"/>
          <p:cNvSpPr/>
          <p:nvPr/>
        </p:nvSpPr>
        <p:spPr>
          <a:xfrm>
            <a:off x="320040" y="1207008"/>
            <a:ext cx="384048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332"/>
                </a:solidFill>
              </a:rPr>
              <a:t>Audiencia y formato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65760" y="1609344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la institución: funcionarios y funcionarias de CONAF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Formato: 2–3 sesiones online de 1 hora cada una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Canal: Microsoft Teams o plataforma institucional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Versión asíncrona grabada con cuestionario de verificación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480560" y="1207008"/>
            <a:ext cx="43891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Shape 11"/>
          <p:cNvSpPr/>
          <p:nvPr/>
        </p:nvSpPr>
        <p:spPr>
          <a:xfrm>
            <a:off x="4480560" y="1207008"/>
            <a:ext cx="4389120" cy="34747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Text 12"/>
          <p:cNvSpPr/>
          <p:nvPr/>
        </p:nvSpPr>
        <p:spPr>
          <a:xfrm>
            <a:off x="4526280" y="1207008"/>
            <a:ext cx="429768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332"/>
                </a:solidFill>
              </a:rPr>
              <a:t>Temario de los seminarios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572000" y="1609344"/>
            <a:ext cx="4206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1: ¿Qué es la gobernanza de datos y por qué importa?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2: El MGDE y el ciclo de vida del dato en CONAF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3: Roles, responsabilidades y casos de uso institucionales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274320" y="2724912"/>
            <a:ext cx="85953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Shape 15"/>
          <p:cNvSpPr/>
          <p:nvPr/>
        </p:nvSpPr>
        <p:spPr>
          <a:xfrm>
            <a:off x="274320" y="2724912"/>
            <a:ext cx="8595360" cy="34747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Text 16"/>
          <p:cNvSpPr/>
          <p:nvPr/>
        </p:nvSpPr>
        <p:spPr>
          <a:xfrm>
            <a:off x="320040" y="2724912"/>
            <a:ext cx="850392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Materiales a elaborar y entregables de evidencia</a:t>
            </a:r>
            <a:endParaRPr lang="en-US" sz="1200" dirty="0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3182112"/>
            <a:ext cx="228600" cy="22860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658368" y="3127248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de seminario con agenda detallada y objetivos de aprendizaje</a:t>
            </a:r>
            <a:endParaRPr lang="en-US" sz="1100" dirty="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3621024"/>
            <a:ext cx="228600" cy="22860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58368" y="356616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Presentaciones en PPT o similar para cada sesión (descargables)</a:t>
            </a:r>
            <a:endParaRPr lang="en-US" sz="1100" dirty="0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4059936"/>
            <a:ext cx="228600" cy="22860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58368" y="4005072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de asistencia firmada o registro digital por sesión</a:t>
            </a:r>
            <a:endParaRPr lang="en-US" sz="1100" dirty="0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3182112"/>
            <a:ext cx="228600" cy="22860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956048" y="3127248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Encuesta de satisfacción y/o evaluación de aprendizajes post-sesión</a:t>
            </a:r>
            <a:endParaRPr lang="en-US" sz="1100" dirty="0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3621024"/>
            <a:ext cx="228600" cy="22860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4956048" y="356616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Grabaciones de sesiones y cuestionario de verificación (versión asíncrona)</a:t>
            </a:r>
            <a:endParaRPr lang="en-US" sz="1100" dirty="0"/>
          </a:p>
        </p:txBody>
      </p:sp>
      <p:sp>
        <p:nvSpPr>
          <p:cNvPr id="30" name="Text 2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</a:rPr>
              <a:t>Plan de Transformación Digital CONAF · PMG-MEI 2025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109728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Hitos de Control y Principales Riesgos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74320" y="777240"/>
            <a:ext cx="4114800" cy="3913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Shape 3"/>
          <p:cNvSpPr/>
          <p:nvPr/>
        </p:nvSpPr>
        <p:spPr>
          <a:xfrm>
            <a:off x="274320" y="777240"/>
            <a:ext cx="4114800" cy="34747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Text 4"/>
          <p:cNvSpPr/>
          <p:nvPr/>
        </p:nvSpPr>
        <p:spPr>
          <a:xfrm>
            <a:off x="320040" y="777240"/>
            <a:ext cx="402336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Hitos de seguimiento mensual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47472" y="1188720"/>
            <a:ext cx="777240" cy="320040"/>
          </a:xfrm>
          <a:prstGeom prst="rect">
            <a:avLst/>
          </a:prstGeom>
          <a:solidFill>
            <a:srgbClr val="D8F3DC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Text 6"/>
          <p:cNvSpPr/>
          <p:nvPr/>
        </p:nvSpPr>
        <p:spPr>
          <a:xfrm>
            <a:off x="347472" y="118872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D6A4F"/>
                </a:solidFill>
              </a:rPr>
              <a:t>30 mayo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1188720" y="118872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coordinador constituido. Diagnóstico iniciado. Personas clave identificadas.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47472" y="1609344"/>
            <a:ext cx="777240" cy="320040"/>
          </a:xfrm>
          <a:prstGeom prst="rect">
            <a:avLst/>
          </a:prstGeom>
          <a:solidFill>
            <a:srgbClr val="D8F3DC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Text 9"/>
          <p:cNvSpPr/>
          <p:nvPr/>
        </p:nvSpPr>
        <p:spPr>
          <a:xfrm>
            <a:off x="347472" y="1609344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D6A4F"/>
                </a:solidFill>
              </a:rPr>
              <a:t>27 jun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1188720" y="1609344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taller directivo realizado. Designación formal completada.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47472" y="2029968"/>
            <a:ext cx="777240" cy="320040"/>
          </a:xfrm>
          <a:prstGeom prst="rect">
            <a:avLst/>
          </a:prstGeom>
          <a:solidFill>
            <a:srgbClr val="D8F3DC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Text 12"/>
          <p:cNvSpPr/>
          <p:nvPr/>
        </p:nvSpPr>
        <p:spPr>
          <a:xfrm>
            <a:off x="347472" y="2029968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D6A4F"/>
                </a:solidFill>
              </a:rPr>
              <a:t>31 jul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1188720" y="2029968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Seminarios de gobernanza realizados. Segundo taller directivo efectuado.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47472" y="2450592"/>
            <a:ext cx="777240" cy="320040"/>
          </a:xfrm>
          <a:prstGeom prst="rect">
            <a:avLst/>
          </a:prstGeom>
          <a:solidFill>
            <a:srgbClr val="D8F3DC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Text 15"/>
          <p:cNvSpPr/>
          <p:nvPr/>
        </p:nvSpPr>
        <p:spPr>
          <a:xfrm>
            <a:off x="347472" y="2450592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 smtClean="0">
                <a:solidFill>
                  <a:srgbClr val="2D6A4F"/>
                </a:solidFill>
              </a:rPr>
              <a:t>3 </a:t>
            </a:r>
            <a:r>
              <a:rPr lang="en-US" sz="950" b="1" dirty="0">
                <a:solidFill>
                  <a:srgbClr val="2D6A4F"/>
                </a:solidFill>
              </a:rPr>
              <a:t>ago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1188720" y="2450592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Alianza formalizada (carta/MOU). Métricas SMART aprobadas en borrador.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347472" y="2871216"/>
            <a:ext cx="777240" cy="320040"/>
          </a:xfrm>
          <a:prstGeom prst="rect">
            <a:avLst/>
          </a:prstGeom>
          <a:solidFill>
            <a:srgbClr val="D8F3DC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Text 18"/>
          <p:cNvSpPr/>
          <p:nvPr/>
        </p:nvSpPr>
        <p:spPr>
          <a:xfrm>
            <a:off x="347472" y="2871216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D6A4F"/>
                </a:solidFill>
              </a:rPr>
              <a:t>30 sep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1188720" y="2871216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Capacitación MGDE completada. Marco de gobernanza en redacción.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347472" y="3291840"/>
            <a:ext cx="777240" cy="320040"/>
          </a:xfrm>
          <a:prstGeom prst="rect">
            <a:avLst/>
          </a:prstGeom>
          <a:solidFill>
            <a:srgbClr val="D8F3DC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4" name="Text 21"/>
          <p:cNvSpPr/>
          <p:nvPr/>
        </p:nvSpPr>
        <p:spPr>
          <a:xfrm>
            <a:off x="347472" y="329184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D6A4F"/>
                </a:solidFill>
              </a:rPr>
              <a:t>30 oct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1188720" y="329184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los documentos formalizados. Carpeta de evidencias completa.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347472" y="3712464"/>
            <a:ext cx="777240" cy="320040"/>
          </a:xfrm>
          <a:prstGeom prst="rect">
            <a:avLst/>
          </a:prstGeom>
          <a:solidFill>
            <a:srgbClr val="D8F3DC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7" name="Text 24"/>
          <p:cNvSpPr/>
          <p:nvPr/>
        </p:nvSpPr>
        <p:spPr>
          <a:xfrm>
            <a:off x="347472" y="3712464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D6A4F"/>
                </a:solidFill>
              </a:rPr>
              <a:t>28 nov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1188720" y="3712464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interna finalizada. Presentación de resultados al directivo.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347472" y="4133088"/>
            <a:ext cx="777240" cy="320040"/>
          </a:xfrm>
          <a:prstGeom prst="rect">
            <a:avLst/>
          </a:prstGeom>
          <a:solidFill>
            <a:srgbClr val="D8F3DC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0" name="Text 27"/>
          <p:cNvSpPr/>
          <p:nvPr/>
        </p:nvSpPr>
        <p:spPr>
          <a:xfrm>
            <a:off x="347472" y="4133088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D6A4F"/>
                </a:solidFill>
              </a:rPr>
              <a:t>19 dic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1188720" y="4133088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Autoevaluación PMG-MEI completada y evidencias subidas al sistema.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4663440" y="777240"/>
            <a:ext cx="4206240" cy="3913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3" name="Shape 30"/>
          <p:cNvSpPr/>
          <p:nvPr/>
        </p:nvSpPr>
        <p:spPr>
          <a:xfrm>
            <a:off x="4663440" y="777240"/>
            <a:ext cx="4206240" cy="3474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3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6592" y="841248"/>
            <a:ext cx="219456" cy="219456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4992624" y="777240"/>
            <a:ext cx="384048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Principales riesgos y mitigación</a:t>
            </a:r>
            <a:endParaRPr lang="en-US" sz="1200" dirty="0"/>
          </a:p>
        </p:txBody>
      </p:sp>
      <p:sp>
        <p:nvSpPr>
          <p:cNvPr id="36" name="Shape 32"/>
          <p:cNvSpPr/>
          <p:nvPr/>
        </p:nvSpPr>
        <p:spPr>
          <a:xfrm>
            <a:off x="4736592" y="1207008"/>
            <a:ext cx="4059936" cy="777240"/>
          </a:xfrm>
          <a:prstGeom prst="rect">
            <a:avLst/>
          </a:prstGeom>
          <a:solidFill>
            <a:srgbClr val="F8FAF8"/>
          </a:solidFill>
          <a:ln w="12700">
            <a:solidFill>
              <a:srgbClr val="E8ED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7" name="Shape 33"/>
          <p:cNvSpPr/>
          <p:nvPr/>
        </p:nvSpPr>
        <p:spPr>
          <a:xfrm>
            <a:off x="4736592" y="1207008"/>
            <a:ext cx="640080" cy="292608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8" name="Text 34"/>
          <p:cNvSpPr/>
          <p:nvPr/>
        </p:nvSpPr>
        <p:spPr>
          <a:xfrm>
            <a:off x="4736592" y="120700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C2626"/>
                </a:solidFill>
              </a:rPr>
              <a:t>Alto</a:t>
            </a:r>
            <a:endParaRPr lang="en-US" sz="900" dirty="0"/>
          </a:p>
        </p:txBody>
      </p:sp>
      <p:sp>
        <p:nvSpPr>
          <p:cNvPr id="39" name="Text 35"/>
          <p:cNvSpPr/>
          <p:nvPr/>
        </p:nvSpPr>
        <p:spPr>
          <a:xfrm>
            <a:off x="5431536" y="1207008"/>
            <a:ext cx="329184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 disponibilidad directiva para talleres</a:t>
            </a:r>
            <a:endParaRPr lang="en-US" sz="1100" dirty="0"/>
          </a:p>
        </p:txBody>
      </p:sp>
      <p:sp>
        <p:nvSpPr>
          <p:cNvPr id="40" name="Text 36"/>
          <p:cNvSpPr/>
          <p:nvPr/>
        </p:nvSpPr>
        <p:spPr>
          <a:xfrm>
            <a:off x="4736592" y="1527048"/>
            <a:ext cx="40599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Agendar con 4 semanas de anticipación; versión asíncrona de contingencia.</a:t>
            </a:r>
            <a:endParaRPr lang="en-US" sz="1000" dirty="0"/>
          </a:p>
        </p:txBody>
      </p:sp>
      <p:sp>
        <p:nvSpPr>
          <p:cNvPr id="41" name="Shape 37"/>
          <p:cNvSpPr/>
          <p:nvPr/>
        </p:nvSpPr>
        <p:spPr>
          <a:xfrm>
            <a:off x="4736592" y="2084832"/>
            <a:ext cx="4059936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2" name="Shape 38"/>
          <p:cNvSpPr/>
          <p:nvPr/>
        </p:nvSpPr>
        <p:spPr>
          <a:xfrm>
            <a:off x="4736592" y="2084832"/>
            <a:ext cx="640080" cy="292608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3" name="Text 39"/>
          <p:cNvSpPr/>
          <p:nvPr/>
        </p:nvSpPr>
        <p:spPr>
          <a:xfrm>
            <a:off x="4736592" y="208483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C2626"/>
                </a:solidFill>
              </a:rPr>
              <a:t>Alto</a:t>
            </a:r>
            <a:endParaRPr lang="en-US" sz="900" dirty="0"/>
          </a:p>
        </p:txBody>
      </p:sp>
      <p:sp>
        <p:nvSpPr>
          <p:cNvPr id="44" name="Text 40"/>
          <p:cNvSpPr/>
          <p:nvPr/>
        </p:nvSpPr>
        <p:spPr>
          <a:xfrm>
            <a:off x="5431536" y="2084832"/>
            <a:ext cx="329184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Dificultad para formalizar alianza en plazo</a:t>
            </a:r>
            <a:endParaRPr lang="en-US" sz="1100" dirty="0"/>
          </a:p>
        </p:txBody>
      </p:sp>
      <p:sp>
        <p:nvSpPr>
          <p:cNvPr id="45" name="Text 41"/>
          <p:cNvSpPr/>
          <p:nvPr/>
        </p:nvSpPr>
        <p:spPr>
          <a:xfrm>
            <a:off x="4736592" y="2404872"/>
            <a:ext cx="40599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Identificar 2–3 instituciones en paralelo; carta de intención como alternativa.</a:t>
            </a:r>
            <a:endParaRPr lang="en-US" sz="1000" dirty="0"/>
          </a:p>
        </p:txBody>
      </p:sp>
      <p:sp>
        <p:nvSpPr>
          <p:cNvPr id="46" name="Shape 42"/>
          <p:cNvSpPr/>
          <p:nvPr/>
        </p:nvSpPr>
        <p:spPr>
          <a:xfrm>
            <a:off x="4736592" y="2962656"/>
            <a:ext cx="4059936" cy="777240"/>
          </a:xfrm>
          <a:prstGeom prst="rect">
            <a:avLst/>
          </a:prstGeom>
          <a:solidFill>
            <a:srgbClr val="F8FAF8"/>
          </a:solidFill>
          <a:ln w="12700">
            <a:solidFill>
              <a:srgbClr val="E8ED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7" name="Shape 43"/>
          <p:cNvSpPr/>
          <p:nvPr/>
        </p:nvSpPr>
        <p:spPr>
          <a:xfrm>
            <a:off x="4736592" y="2962656"/>
            <a:ext cx="640080" cy="292608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8" name="Text 44"/>
          <p:cNvSpPr/>
          <p:nvPr/>
        </p:nvSpPr>
        <p:spPr>
          <a:xfrm>
            <a:off x="4736592" y="2962656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97706"/>
                </a:solidFill>
              </a:rPr>
              <a:t>Medio</a:t>
            </a:r>
            <a:endParaRPr lang="en-US" sz="900" dirty="0"/>
          </a:p>
        </p:txBody>
      </p:sp>
      <p:sp>
        <p:nvSpPr>
          <p:cNvPr id="49" name="Text 45"/>
          <p:cNvSpPr/>
          <p:nvPr/>
        </p:nvSpPr>
        <p:spPr>
          <a:xfrm>
            <a:off x="5431536" y="2962656"/>
            <a:ext cx="329184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Rotación de personas clave antes de capacitación</a:t>
            </a:r>
            <a:endParaRPr lang="en-US" sz="1100" dirty="0"/>
          </a:p>
        </p:txBody>
      </p:sp>
      <p:sp>
        <p:nvSpPr>
          <p:cNvPr id="50" name="Text 46"/>
          <p:cNvSpPr/>
          <p:nvPr/>
        </p:nvSpPr>
        <p:spPr>
          <a:xfrm>
            <a:off x="4736592" y="3282696"/>
            <a:ext cx="40599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Designar suplentes; documentar y compartir materiales con el equipo.</a:t>
            </a:r>
            <a:endParaRPr lang="en-US" sz="1000" dirty="0"/>
          </a:p>
        </p:txBody>
      </p:sp>
      <p:sp>
        <p:nvSpPr>
          <p:cNvPr id="51" name="Shape 47"/>
          <p:cNvSpPr/>
          <p:nvPr/>
        </p:nvSpPr>
        <p:spPr>
          <a:xfrm>
            <a:off x="4736592" y="3840480"/>
            <a:ext cx="4059936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2" name="Shape 48"/>
          <p:cNvSpPr/>
          <p:nvPr/>
        </p:nvSpPr>
        <p:spPr>
          <a:xfrm>
            <a:off x="4736592" y="3840480"/>
            <a:ext cx="640080" cy="292608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3" name="Text 49"/>
          <p:cNvSpPr/>
          <p:nvPr/>
        </p:nvSpPr>
        <p:spPr>
          <a:xfrm>
            <a:off x="4736592" y="384048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97706"/>
                </a:solidFill>
              </a:rPr>
              <a:t>Medio</a:t>
            </a:r>
            <a:endParaRPr lang="en-US" sz="900" dirty="0"/>
          </a:p>
        </p:txBody>
      </p:sp>
      <p:sp>
        <p:nvSpPr>
          <p:cNvPr id="54" name="Text 50"/>
          <p:cNvSpPr/>
          <p:nvPr/>
        </p:nvSpPr>
        <p:spPr>
          <a:xfrm>
            <a:off x="5431536" y="3840480"/>
            <a:ext cx="329184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Demora en aprobación de documentos de gobernanza</a:t>
            </a:r>
            <a:endParaRPr lang="en-US" sz="1100" dirty="0"/>
          </a:p>
        </p:txBody>
      </p:sp>
      <p:sp>
        <p:nvSpPr>
          <p:cNvPr id="55" name="Text 51"/>
          <p:cNvSpPr/>
          <p:nvPr/>
        </p:nvSpPr>
        <p:spPr>
          <a:xfrm>
            <a:off x="4736592" y="4160520"/>
            <a:ext cx="40599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Definir circuito de revisión desde el inicio (responsable, plazo máximo).</a:t>
            </a:r>
            <a:endParaRPr lang="en-US" sz="1000" dirty="0"/>
          </a:p>
        </p:txBody>
      </p:sp>
      <p:sp>
        <p:nvSpPr>
          <p:cNvPr id="56" name="Text 5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</a:rPr>
              <a:t>Plan de Transformación Digital CONAF · PMG-MEI 2025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45000"/>
          </a:blip>
          <a:stretch>
            <a:fillRect/>
          </a:stretch>
        </p:blipFill>
        <p:spPr>
          <a:xfrm>
            <a:off x="7498080" y="365760"/>
            <a:ext cx="1188720" cy="11887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502920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Pasos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457200" y="1078992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Acciones inmediatas · Mayo 2026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1600200"/>
            <a:ext cx="411480" cy="4572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Text 4"/>
          <p:cNvSpPr/>
          <p:nvPr/>
        </p:nvSpPr>
        <p:spPr>
          <a:xfrm>
            <a:off x="457200" y="160020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4332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60120" y="1618488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Constituir el equipo coordinador del plan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60120" y="1874520"/>
            <a:ext cx="5760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1–2 mayo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" y="2203704"/>
            <a:ext cx="411480" cy="4572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8"/>
          <p:cNvSpPr/>
          <p:nvPr/>
        </p:nvSpPr>
        <p:spPr>
          <a:xfrm>
            <a:off x="457200" y="2203704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4332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960120" y="2221992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Agendar el primer taller directivo en junio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960120" y="2478024"/>
            <a:ext cx="5760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1–2 mayo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57200" y="2807208"/>
            <a:ext cx="411480" cy="4572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Text 12"/>
          <p:cNvSpPr/>
          <p:nvPr/>
        </p:nvSpPr>
        <p:spPr>
          <a:xfrm>
            <a:off x="457200" y="2807208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4332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960120" y="2825496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encuesta de diagnóstico de madurez de datos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960120" y="3081528"/>
            <a:ext cx="5760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2–3 mayo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57200" y="3410712"/>
            <a:ext cx="411480" cy="4572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Text 16"/>
          <p:cNvSpPr/>
          <p:nvPr/>
        </p:nvSpPr>
        <p:spPr>
          <a:xfrm>
            <a:off x="457200" y="3410712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4332"/>
                </a:solidFill>
              </a:rPr>
              <a:t>4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960120" y="342900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Levantar listado de personas clave candidatas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960120" y="3685032"/>
            <a:ext cx="5760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3–4 mayo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57200" y="4014216"/>
            <a:ext cx="411480" cy="4572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3" name="Text 20"/>
          <p:cNvSpPr/>
          <p:nvPr/>
        </p:nvSpPr>
        <p:spPr>
          <a:xfrm>
            <a:off x="457200" y="4014216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4332"/>
                </a:solidFill>
              </a:rPr>
              <a:t>5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960120" y="4032504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organismos del Estado para alianza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960120" y="4288536"/>
            <a:ext cx="5760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3–4 mayo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457200" y="4663440"/>
            <a:ext cx="8412480" cy="27432"/>
          </a:xfrm>
          <a:prstGeom prst="rect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7" name="Text 24"/>
          <p:cNvSpPr/>
          <p:nvPr/>
        </p:nvSpPr>
        <p:spPr>
          <a:xfrm>
            <a:off x="457200" y="4736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</a:rPr>
              <a:t>Plazo máximo de cumplimiento: 31 de diciembre de 2026  ·  Plan diseñado con holgura de 2 meses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1291</Words>
  <Application>Microsoft Office PowerPoint</Application>
  <PresentationFormat>Presentación en pantalla (16:9)</PresentationFormat>
  <Paragraphs>248</Paragraphs>
  <Slides>11</Slides>
  <Notes>11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2" baseType="lpstr"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 de Transformación Digital CONAF · PMG-MEI 2025</dc:title>
  <dc:subject>PptxGenJS Presentation</dc:subject>
  <dc:creator>PptxGenJS</dc:creator>
  <cp:lastModifiedBy>Luis Monsalve</cp:lastModifiedBy>
  <cp:revision>8</cp:revision>
  <dcterms:created xsi:type="dcterms:W3CDTF">2026-05-05T13:16:17Z</dcterms:created>
  <dcterms:modified xsi:type="dcterms:W3CDTF">2026-05-05T16:15:28Z</dcterms:modified>
</cp:coreProperties>
</file>