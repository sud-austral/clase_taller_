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13"/>
          <p:cNvSpPr txBox="1"/>
          <p:nvPr>
            <p:ph idx="10" type="dt"/>
          </p:nvPr>
        </p:nvSpPr>
        <p:spPr>
          <a:xfrm>
            <a:off x="457201" y="4767286"/>
            <a:ext cx="2133600" cy="273844"/>
          </a:xfrm>
          <a:prstGeom prst="rect">
            <a:avLst/>
          </a:prstGeom>
          <a:noFill/>
          <a:ln>
            <a:noFill/>
          </a:ln>
        </p:spPr>
        <p:txBody>
          <a:bodyPr anchorCtr="0" anchor="t" bIns="34325" lIns="68650" spcFirstLastPara="1" rIns="68650" wrap="square" tIns="34325">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4" name="Google Shape;54;p13"/>
          <p:cNvSpPr txBox="1"/>
          <p:nvPr>
            <p:ph idx="11" type="ftr"/>
          </p:nvPr>
        </p:nvSpPr>
        <p:spPr>
          <a:xfrm>
            <a:off x="3124201" y="4767286"/>
            <a:ext cx="2895600" cy="273844"/>
          </a:xfrm>
          <a:prstGeom prst="rect">
            <a:avLst/>
          </a:prstGeom>
          <a:noFill/>
          <a:ln>
            <a:noFill/>
          </a:ln>
        </p:spPr>
        <p:txBody>
          <a:bodyPr anchorCtr="0" anchor="t" bIns="34325" lIns="68650" spcFirstLastPara="1" rIns="68650" wrap="square" tIns="34325">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5" name="Google Shape;5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solidFill>
                  <a:srgbClr val="888888"/>
                </a:solidFill>
              </a:defRPr>
            </a:lvl1pPr>
            <a:lvl2pPr indent="0" lvl="1" marL="0" marR="0" algn="r">
              <a:lnSpc>
                <a:spcPct val="100000"/>
              </a:lnSpc>
              <a:spcBef>
                <a:spcPts val="0"/>
              </a:spcBef>
              <a:spcAft>
                <a:spcPts val="0"/>
              </a:spcAft>
              <a:buClr>
                <a:srgbClr val="000000"/>
              </a:buClr>
              <a:buSzPts val="1000"/>
              <a:buFont typeface="Arial"/>
              <a:buNone/>
              <a:defRPr>
                <a:solidFill>
                  <a:srgbClr val="888888"/>
                </a:solidFill>
              </a:defRPr>
            </a:lvl2pPr>
            <a:lvl3pPr indent="0" lvl="2" marL="0" marR="0" algn="r">
              <a:lnSpc>
                <a:spcPct val="100000"/>
              </a:lnSpc>
              <a:spcBef>
                <a:spcPts val="0"/>
              </a:spcBef>
              <a:spcAft>
                <a:spcPts val="0"/>
              </a:spcAft>
              <a:buClr>
                <a:srgbClr val="000000"/>
              </a:buClr>
              <a:buSzPts val="1000"/>
              <a:buFont typeface="Arial"/>
              <a:buNone/>
              <a:defRPr>
                <a:solidFill>
                  <a:srgbClr val="888888"/>
                </a:solidFill>
              </a:defRPr>
            </a:lvl3pPr>
            <a:lvl4pPr indent="0" lvl="3" marL="0" marR="0" algn="r">
              <a:lnSpc>
                <a:spcPct val="100000"/>
              </a:lnSpc>
              <a:spcBef>
                <a:spcPts val="0"/>
              </a:spcBef>
              <a:spcAft>
                <a:spcPts val="0"/>
              </a:spcAft>
              <a:buClr>
                <a:srgbClr val="000000"/>
              </a:buClr>
              <a:buSzPts val="1000"/>
              <a:buFont typeface="Arial"/>
              <a:buNone/>
              <a:defRPr>
                <a:solidFill>
                  <a:srgbClr val="888888"/>
                </a:solidFill>
              </a:defRPr>
            </a:lvl4pPr>
            <a:lvl5pPr indent="0" lvl="4" marL="0" marR="0" algn="r">
              <a:lnSpc>
                <a:spcPct val="100000"/>
              </a:lnSpc>
              <a:spcBef>
                <a:spcPts val="0"/>
              </a:spcBef>
              <a:spcAft>
                <a:spcPts val="0"/>
              </a:spcAft>
              <a:buClr>
                <a:srgbClr val="000000"/>
              </a:buClr>
              <a:buSzPts val="1000"/>
              <a:buFont typeface="Arial"/>
              <a:buNone/>
              <a:defRPr>
                <a:solidFill>
                  <a:srgbClr val="888888"/>
                </a:solidFill>
              </a:defRPr>
            </a:lvl5pPr>
            <a:lvl6pPr indent="0" lvl="5" marL="0" marR="0" algn="r">
              <a:lnSpc>
                <a:spcPct val="100000"/>
              </a:lnSpc>
              <a:spcBef>
                <a:spcPts val="0"/>
              </a:spcBef>
              <a:spcAft>
                <a:spcPts val="0"/>
              </a:spcAft>
              <a:buClr>
                <a:srgbClr val="000000"/>
              </a:buClr>
              <a:buSzPts val="1000"/>
              <a:buFont typeface="Arial"/>
              <a:buNone/>
              <a:defRPr>
                <a:solidFill>
                  <a:srgbClr val="888888"/>
                </a:solidFill>
              </a:defRPr>
            </a:lvl6pPr>
            <a:lvl7pPr indent="0" lvl="6" marL="0" marR="0" algn="r">
              <a:lnSpc>
                <a:spcPct val="100000"/>
              </a:lnSpc>
              <a:spcBef>
                <a:spcPts val="0"/>
              </a:spcBef>
              <a:spcAft>
                <a:spcPts val="0"/>
              </a:spcAft>
              <a:buClr>
                <a:srgbClr val="000000"/>
              </a:buClr>
              <a:buSzPts val="1000"/>
              <a:buFont typeface="Arial"/>
              <a:buNone/>
              <a:defRPr>
                <a:solidFill>
                  <a:srgbClr val="888888"/>
                </a:solidFill>
              </a:defRPr>
            </a:lvl7pPr>
            <a:lvl8pPr indent="0" lvl="7" marL="0" marR="0" algn="r">
              <a:lnSpc>
                <a:spcPct val="100000"/>
              </a:lnSpc>
              <a:spcBef>
                <a:spcPts val="0"/>
              </a:spcBef>
              <a:spcAft>
                <a:spcPts val="0"/>
              </a:spcAft>
              <a:buClr>
                <a:srgbClr val="000000"/>
              </a:buClr>
              <a:buSzPts val="1000"/>
              <a:buFont typeface="Arial"/>
              <a:buNone/>
              <a:defRPr>
                <a:solidFill>
                  <a:srgbClr val="888888"/>
                </a:solidFill>
              </a:defRPr>
            </a:lvl8pPr>
            <a:lvl9pPr indent="0" lvl="8" marL="0" marR="0" algn="r">
              <a:lnSpc>
                <a:spcPct val="100000"/>
              </a:lnSpc>
              <a:spcBef>
                <a:spcPts val="0"/>
              </a:spcBef>
              <a:spcAft>
                <a:spcPts val="0"/>
              </a:spcAft>
              <a:buClr>
                <a:srgbClr val="000000"/>
              </a:buClr>
              <a:buSzPts val="1000"/>
              <a:buFont typeface="Arial"/>
              <a:buNone/>
              <a:defRPr>
                <a:solidFill>
                  <a:srgbClr val="888888"/>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0" l="0" r="0" t="0"/>
          <a:stretch/>
        </p:blipFill>
        <p:spPr>
          <a:xfrm>
            <a:off x="1850" y="1041"/>
            <a:ext cx="9140299" cy="5141418"/>
          </a:xfrm>
          <a:prstGeom prst="rect">
            <a:avLst/>
          </a:prstGeom>
          <a:noFill/>
          <a:ln>
            <a:noFill/>
          </a:ln>
        </p:spPr>
      </p:pic>
      <p:sp>
        <p:nvSpPr>
          <p:cNvPr id="61" name="Google Shape;61;p14"/>
          <p:cNvSpPr txBox="1"/>
          <p:nvPr/>
        </p:nvSpPr>
        <p:spPr>
          <a:xfrm>
            <a:off x="400050" y="1714500"/>
            <a:ext cx="8334300" cy="142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s-419" sz="4000">
                <a:solidFill>
                  <a:srgbClr val="FFFFFF"/>
                </a:solidFill>
                <a:latin typeface="Verdana"/>
                <a:ea typeface="Verdana"/>
                <a:cs typeface="Verdana"/>
                <a:sym typeface="Verdana"/>
              </a:rPr>
              <a:t>Unidad de Información y Análisis Institucional</a:t>
            </a:r>
            <a:endParaRPr b="1" sz="4000">
              <a:solidFill>
                <a:srgbClr val="FFFFFF"/>
              </a:solidFill>
              <a:latin typeface="Verdana"/>
              <a:ea typeface="Verdana"/>
              <a:cs typeface="Verdana"/>
              <a:sym typeface="Verdana"/>
            </a:endParaRPr>
          </a:p>
        </p:txBody>
      </p:sp>
      <p:sp>
        <p:nvSpPr>
          <p:cNvPr id="62" name="Google Shape;62;p14"/>
          <p:cNvSpPr txBox="1"/>
          <p:nvPr/>
        </p:nvSpPr>
        <p:spPr>
          <a:xfrm>
            <a:off x="400050" y="3238500"/>
            <a:ext cx="5715000" cy="952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s-419" sz="1400">
                <a:solidFill>
                  <a:srgbClr val="FFFFFF"/>
                </a:solidFill>
                <a:latin typeface="Verdana"/>
                <a:ea typeface="Verdana"/>
                <a:cs typeface="Verdana"/>
                <a:sym typeface="Verdana"/>
              </a:rPr>
              <a:t>Un mes dentro de CONAF. Hoy les mostramos en vivo algo que va a cambiar la forma en que trabajamos.</a:t>
            </a:r>
            <a:endParaRPr b="0" sz="1400">
              <a:solidFill>
                <a:srgbClr val="FFFFFF"/>
              </a:solidFill>
              <a:latin typeface="Verdana"/>
              <a:ea typeface="Verdana"/>
              <a:cs typeface="Verdana"/>
              <a:sym typeface="Verdana"/>
            </a:endParaRPr>
          </a:p>
        </p:txBody>
      </p:sp>
      <p:sp>
        <p:nvSpPr>
          <p:cNvPr id="63" name="Google Shape;63;p14"/>
          <p:cNvSpPr txBox="1"/>
          <p:nvPr/>
        </p:nvSpPr>
        <p:spPr>
          <a:xfrm>
            <a:off x="400050" y="1333500"/>
            <a:ext cx="83343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s-419" sz="1400">
                <a:solidFill>
                  <a:srgbClr val="FFFFFF"/>
                </a:solidFill>
                <a:latin typeface="Verdana"/>
                <a:ea typeface="Verdana"/>
                <a:cs typeface="Verdana"/>
                <a:sym typeface="Verdana"/>
              </a:rPr>
              <a:t>Presentación de la Unidad</a:t>
            </a:r>
            <a:endParaRPr b="0" sz="1400">
              <a:solidFill>
                <a:srgbClr val="FFFFF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9" name="Google Shape;69;p15"/>
          <p:cNvSpPr txBox="1"/>
          <p:nvPr/>
        </p:nvSpPr>
        <p:spPr>
          <a:xfrm>
            <a:off x="2800847" y="1960713"/>
            <a:ext cx="5466300" cy="26883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rgbClr val="25306B"/>
                </a:solidFill>
                <a:latin typeface="Verdana"/>
                <a:ea typeface="Verdana"/>
                <a:cs typeface="Verdana"/>
                <a:sym typeface="Verdana"/>
              </a:rPr>
              <a:t>Olviden la ciencia ficción. La IA que usaremos es, en esencia, un asistente ultrarrápido que ha leído millones de documentos. No piensa, no siente. Predice la mejor respuesta basándose en todo lo que ha procesado. </a:t>
            </a:r>
            <a:r>
              <a:rPr b="1" i="0" lang="es-419" sz="1500" u="none" cap="none" strike="noStrike">
                <a:solidFill>
                  <a:srgbClr val="25306B"/>
                </a:solidFill>
                <a:latin typeface="Verdana"/>
                <a:ea typeface="Verdana"/>
                <a:cs typeface="Verdana"/>
                <a:sym typeface="Verdana"/>
              </a:rPr>
              <a:t>Un practicante brillante</a:t>
            </a:r>
            <a:r>
              <a:rPr b="0" i="0" lang="es-419" sz="1500" u="none" cap="none" strike="noStrike">
                <a:solidFill>
                  <a:srgbClr val="25306B"/>
                </a:solidFill>
                <a:latin typeface="Verdana"/>
                <a:ea typeface="Verdana"/>
                <a:cs typeface="Verdana"/>
                <a:sym typeface="Verdana"/>
              </a:rPr>
              <a:t>: le dicen “toma estas 50 páginas y hazme un resumen” y lo devuelve en 5 segundos. Ustedes son los expertos en CONAF; la IA es experta en </a:t>
            </a:r>
            <a:r>
              <a:rPr b="1" i="0" lang="es-419" sz="1500" u="none" cap="none" strike="noStrike">
                <a:solidFill>
                  <a:srgbClr val="25306B"/>
                </a:solidFill>
                <a:latin typeface="Verdana"/>
                <a:ea typeface="Verdana"/>
                <a:cs typeface="Verdana"/>
                <a:sym typeface="Verdana"/>
              </a:rPr>
              <a:t>procesar texto, resumir, redactar y detectar patrones</a:t>
            </a:r>
            <a:r>
              <a:rPr b="0" i="0" lang="es-419" sz="1500" u="none" cap="none" strike="noStrike">
                <a:solidFill>
                  <a:srgbClr val="25306B"/>
                </a:solidFill>
                <a:latin typeface="Verdana"/>
                <a:ea typeface="Verdana"/>
                <a:cs typeface="Verdana"/>
                <a:sym typeface="Verdana"/>
              </a:rPr>
              <a:t>. No es un reemplazo, es un apoyo.</a:t>
            </a:r>
            <a:endParaRPr b="0" i="0" sz="1500" u="none" cap="none" strike="noStrike">
              <a:solidFill>
                <a:srgbClr val="25306B"/>
              </a:solidFill>
              <a:latin typeface="Verdana"/>
              <a:ea typeface="Verdana"/>
              <a:cs typeface="Verdana"/>
              <a:sym typeface="Verdana"/>
            </a:endParaRPr>
          </a:p>
        </p:txBody>
      </p:sp>
      <p:sp>
        <p:nvSpPr>
          <p:cNvPr id="70" name="Google Shape;70;p15"/>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rgbClr val="25306B"/>
                </a:solidFill>
                <a:latin typeface="Verdana"/>
                <a:ea typeface="Verdana"/>
                <a:cs typeface="Verdana"/>
                <a:sym typeface="Verdana"/>
              </a:rPr>
              <a:t>¿Qué es realmente la Inteligencia Artificial?</a:t>
            </a:r>
            <a:endParaRPr b="0" i="0" sz="1100" u="none" cap="none" strike="noStrike">
              <a:solidFill>
                <a:srgbClr val="25306B"/>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3">
            <a:alphaModFix/>
          </a:blip>
          <a:srcRect b="0" l="0" r="0" t="0"/>
          <a:stretch/>
        </p:blipFill>
        <p:spPr>
          <a:xfrm>
            <a:off x="2379" y="1339"/>
            <a:ext cx="9139239" cy="5140822"/>
          </a:xfrm>
          <a:prstGeom prst="rect">
            <a:avLst/>
          </a:prstGeom>
          <a:noFill/>
          <a:ln>
            <a:noFill/>
          </a:ln>
        </p:spPr>
      </p:pic>
      <p:sp>
        <p:nvSpPr>
          <p:cNvPr id="76" name="Google Shape;76;p16"/>
          <p:cNvSpPr txBox="1"/>
          <p:nvPr/>
        </p:nvSpPr>
        <p:spPr>
          <a:xfrm>
            <a:off x="725654" y="2462213"/>
            <a:ext cx="2521800" cy="1515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chemeClr val="lt1"/>
                </a:solidFill>
                <a:latin typeface="Verdana"/>
                <a:ea typeface="Verdana"/>
                <a:cs typeface="Verdana"/>
                <a:sym typeface="Verdana"/>
              </a:rPr>
              <a:t>Tres herramientas en pantalla: </a:t>
            </a:r>
            <a:r>
              <a:rPr b="1" i="0" lang="es-419" sz="1500" u="none" cap="none" strike="noStrike">
                <a:solidFill>
                  <a:schemeClr val="lt1"/>
                </a:solidFill>
                <a:latin typeface="Verdana"/>
                <a:ea typeface="Verdana"/>
                <a:cs typeface="Verdana"/>
                <a:sym typeface="Verdana"/>
              </a:rPr>
              <a:t>ChatGPT, Claude y Gemini</a:t>
            </a:r>
            <a:r>
              <a:rPr b="0" i="0" lang="es-419" sz="1500" u="none" cap="none" strike="noStrike">
                <a:solidFill>
                  <a:schemeClr val="lt1"/>
                </a:solidFill>
                <a:latin typeface="Verdana"/>
                <a:ea typeface="Verdana"/>
                <a:cs typeface="Verdana"/>
                <a:sym typeface="Verdana"/>
              </a:rPr>
              <a:t> reciben el mismo prompt: redactar un correo formal a un proveedor que no entregó a tiempo.</a:t>
            </a:r>
            <a:endParaRPr b="0" i="0" sz="1500" u="none" cap="none" strike="noStrike">
              <a:solidFill>
                <a:schemeClr val="lt1"/>
              </a:solidFill>
              <a:latin typeface="Verdana"/>
              <a:ea typeface="Verdana"/>
              <a:cs typeface="Verdana"/>
              <a:sym typeface="Verdana"/>
            </a:endParaRPr>
          </a:p>
        </p:txBody>
      </p:sp>
      <p:sp>
        <p:nvSpPr>
          <p:cNvPr id="77" name="Google Shape;77;p16"/>
          <p:cNvSpPr txBox="1"/>
          <p:nvPr/>
        </p:nvSpPr>
        <p:spPr>
          <a:xfrm>
            <a:off x="3342647"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0" i="0" lang="es-419" sz="1500" u="none" cap="none" strike="noStrike">
                <a:solidFill>
                  <a:schemeClr val="lt1"/>
                </a:solidFill>
                <a:latin typeface="Verdana"/>
                <a:ea typeface="Verdana"/>
                <a:cs typeface="Verdana"/>
                <a:sym typeface="Verdana"/>
              </a:rPr>
              <a:t>El resultado: </a:t>
            </a:r>
            <a:r>
              <a:rPr b="1" i="0" lang="es-419" sz="1500" u="none" cap="none" strike="noStrike">
                <a:solidFill>
                  <a:schemeClr val="lt1"/>
                </a:solidFill>
                <a:latin typeface="Verdana"/>
                <a:ea typeface="Verdana"/>
                <a:cs typeface="Verdana"/>
                <a:sym typeface="Verdana"/>
              </a:rPr>
              <a:t>estructura, tono y longitud distintos</a:t>
            </a:r>
            <a:r>
              <a:rPr b="0" i="0" lang="es-419" sz="1500" u="none" cap="none" strike="noStrike">
                <a:solidFill>
                  <a:schemeClr val="lt1"/>
                </a:solidFill>
                <a:latin typeface="Verdana"/>
                <a:ea typeface="Verdana"/>
                <a:cs typeface="Verdana"/>
                <a:sym typeface="Verdana"/>
              </a:rPr>
              <a:t>. Las tres respuestas son válidas y útiles de formas diferentes.</a:t>
            </a:r>
            <a:endParaRPr b="0" i="0" sz="1500" u="none" cap="none" strike="noStrike">
              <a:solidFill>
                <a:schemeClr val="lt1"/>
              </a:solidFill>
              <a:latin typeface="Verdana"/>
              <a:ea typeface="Verdana"/>
              <a:cs typeface="Verdana"/>
              <a:sym typeface="Verdana"/>
            </a:endParaRPr>
          </a:p>
        </p:txBody>
      </p:sp>
      <p:sp>
        <p:nvSpPr>
          <p:cNvPr id="78" name="Google Shape;78;p16"/>
          <p:cNvSpPr txBox="1"/>
          <p:nvPr/>
        </p:nvSpPr>
        <p:spPr>
          <a:xfrm>
            <a:off x="5896538"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1" i="0" lang="es-419" sz="1500" u="none" cap="none" strike="noStrike">
                <a:solidFill>
                  <a:schemeClr val="lt1"/>
                </a:solidFill>
                <a:latin typeface="Verdana"/>
                <a:ea typeface="Verdana"/>
                <a:cs typeface="Verdana"/>
                <a:sym typeface="Verdana"/>
              </a:rPr>
              <a:t>La IA no es una bola de cristal con una única respuesta mágica. Es </a:t>
            </a:r>
            <a:r>
              <a:rPr b="0" i="0" lang="es-419" sz="1500" u="none" cap="none" strike="noStrike">
                <a:solidFill>
                  <a:schemeClr val="lt1"/>
                </a:solidFill>
                <a:latin typeface="Verdana"/>
                <a:ea typeface="Verdana"/>
                <a:cs typeface="Verdana"/>
                <a:sym typeface="Verdana"/>
              </a:rPr>
              <a:t>una herramienta con la que hay que aprender a dialogar. CONAF tiene licencia paga para Gemini Pro.</a:t>
            </a:r>
            <a:endParaRPr b="0" i="0" sz="1500" u="none" cap="none" strike="noStrike">
              <a:solidFill>
                <a:schemeClr val="lt1"/>
              </a:solidFill>
              <a:latin typeface="Verdana"/>
              <a:ea typeface="Verdana"/>
              <a:cs typeface="Verdana"/>
              <a:sym typeface="Verdana"/>
            </a:endParaRPr>
          </a:p>
        </p:txBody>
      </p:sp>
      <p:sp>
        <p:nvSpPr>
          <p:cNvPr id="79" name="Google Shape;79;p16"/>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chemeClr val="lt1"/>
                </a:solidFill>
                <a:latin typeface="Verdana"/>
                <a:ea typeface="Verdana"/>
                <a:cs typeface="Verdana"/>
                <a:sym typeface="Verdana"/>
              </a:rPr>
              <a:t>Demo 1 · Distintos modelos, distintas respuestas</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 name="Google Shape;85;p17"/>
          <p:cNvSpPr txBox="1"/>
          <p:nvPr/>
        </p:nvSpPr>
        <p:spPr>
          <a:xfrm>
            <a:off x="3402404" y="1947863"/>
            <a:ext cx="5156700" cy="20694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C4581"/>
              </a:buClr>
              <a:buSzPts val="1500"/>
              <a:buFont typeface="Arial"/>
              <a:buNone/>
            </a:pPr>
            <a:r>
              <a:rPr b="0" i="0" lang="es-419" sz="1500" u="none" cap="none" strike="noStrike">
                <a:solidFill>
                  <a:srgbClr val="2E3192"/>
                </a:solidFill>
                <a:latin typeface="Verdana"/>
                <a:ea typeface="Verdana"/>
                <a:cs typeface="Verdana"/>
                <a:sym typeface="Verdana"/>
              </a:rPr>
              <a:t>Un prompt genérico como “hazme una presentación sobre la gestión de presupuestos” entrega un resultado vago, sin foco y difícil de usar. Un prompt preciso lo cambia todo: </a:t>
            </a:r>
            <a:r>
              <a:rPr b="1" i="0" lang="es-419" sz="1500" u="none" cap="none" strike="noStrike">
                <a:solidFill>
                  <a:srgbClr val="2E3192"/>
                </a:solidFill>
                <a:latin typeface="Verdana"/>
                <a:ea typeface="Verdana"/>
                <a:cs typeface="Verdana"/>
                <a:sym typeface="Verdana"/>
              </a:rPr>
              <a:t>rol, cantidad, foco y formato</a:t>
            </a:r>
            <a:r>
              <a:rPr b="0" i="0" lang="es-419" sz="1500" u="none" cap="none" strike="noStrike">
                <a:solidFill>
                  <a:srgbClr val="2E3192"/>
                </a:solidFill>
                <a:latin typeface="Verdana"/>
                <a:ea typeface="Verdana"/>
                <a:cs typeface="Verdana"/>
                <a:sym typeface="Verdana"/>
              </a:rPr>
              <a:t>“Eres un experto en finanzas públicas. Crea 5 diapositivas sobre control del gasto en la segunda mitad del año, tono ejecutivo, con tabla de seguimiento”. La calidad del resultado depende </a:t>
            </a:r>
            <a:r>
              <a:rPr b="1" i="0" lang="es-419" sz="1500" u="none" cap="none" strike="noStrike">
                <a:solidFill>
                  <a:srgbClr val="2E3192"/>
                </a:solidFill>
                <a:latin typeface="Verdana"/>
                <a:ea typeface="Verdana"/>
                <a:cs typeface="Verdana"/>
                <a:sym typeface="Verdana"/>
              </a:rPr>
              <a:t>100% de las instrucciones que damos</a:t>
            </a:r>
            <a:r>
              <a:rPr b="0" i="0" lang="es-419" sz="1500" u="none" cap="none" strike="noStrike">
                <a:solidFill>
                  <a:srgbClr val="2E3192"/>
                </a:solidFill>
                <a:latin typeface="Verdana"/>
                <a:ea typeface="Verdana"/>
                <a:cs typeface="Verdana"/>
                <a:sym typeface="Verdana"/>
              </a:rPr>
              <a:t>. A eso se le llama prompt, y es la habilidad más importante que vamos a desarrollar juntos.</a:t>
            </a:r>
            <a:endParaRPr b="0" i="0" sz="1100" u="none" cap="none" strike="noStrike">
              <a:solidFill>
                <a:srgbClr val="2E3192"/>
              </a:solidFill>
              <a:latin typeface="Arial"/>
              <a:ea typeface="Arial"/>
              <a:cs typeface="Arial"/>
              <a:sym typeface="Arial"/>
            </a:endParaRPr>
          </a:p>
        </p:txBody>
      </p:sp>
      <p:pic>
        <p:nvPicPr>
          <p:cNvPr id="86" name="Google Shape;86;p17"/>
          <p:cNvPicPr preferRelativeResize="0"/>
          <p:nvPr/>
        </p:nvPicPr>
        <p:blipFill rotWithShape="1">
          <a:blip r:embed="rId4">
            <a:alphaModFix/>
          </a:blip>
          <a:srcRect b="0" l="0" r="0" t="0"/>
          <a:stretch/>
        </p:blipFill>
        <p:spPr>
          <a:xfrm>
            <a:off x="681826" y="2045640"/>
            <a:ext cx="2559106" cy="1706070"/>
          </a:xfrm>
          <a:prstGeom prst="rect">
            <a:avLst/>
          </a:prstGeom>
          <a:noFill/>
          <a:ln>
            <a:noFill/>
          </a:ln>
        </p:spPr>
      </p:pic>
      <p:sp>
        <p:nvSpPr>
          <p:cNvPr id="87" name="Google Shape;87;p17"/>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rgbClr val="2E3192"/>
                </a:solidFill>
                <a:latin typeface="Verdana"/>
                <a:ea typeface="Verdana"/>
                <a:cs typeface="Verdana"/>
                <a:sym typeface="Verdana"/>
              </a:rPr>
              <a:t>Demo 2 · El prompt lo cambia todo</a:t>
            </a:r>
            <a:endParaRPr b="0" i="0" sz="1100" u="none" cap="none" strike="noStrike">
              <a:solidFill>
                <a:srgbClr val="2E319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p:cNvPicPr preferRelativeResize="0"/>
          <p:nvPr/>
        </p:nvPicPr>
        <p:blipFill rotWithShape="1">
          <a:blip r:embed="rId3">
            <a:alphaModFix/>
          </a:blip>
          <a:srcRect b="0" l="0" r="0" t="0"/>
          <a:stretch/>
        </p:blipFill>
        <p:spPr>
          <a:xfrm>
            <a:off x="2379" y="1339"/>
            <a:ext cx="9139239" cy="5140822"/>
          </a:xfrm>
          <a:prstGeom prst="rect">
            <a:avLst/>
          </a:prstGeom>
          <a:noFill/>
          <a:ln>
            <a:noFill/>
          </a:ln>
        </p:spPr>
      </p:pic>
      <p:sp>
        <p:nvSpPr>
          <p:cNvPr id="93" name="Google Shape;93;p18"/>
          <p:cNvSpPr txBox="1"/>
          <p:nvPr/>
        </p:nvSpPr>
        <p:spPr>
          <a:xfrm>
            <a:off x="725654" y="2462213"/>
            <a:ext cx="2521800" cy="1515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chemeClr val="lt1"/>
                </a:solidFill>
                <a:latin typeface="Verdana"/>
                <a:ea typeface="Verdana"/>
                <a:cs typeface="Verdana"/>
                <a:sym typeface="Verdana"/>
              </a:rPr>
              <a:t>Armar una presentación desde cero puede tomar 3 horas. Con </a:t>
            </a:r>
            <a:r>
              <a:rPr b="1" i="0" lang="es-419" sz="1500" u="none" cap="none" strike="noStrike">
                <a:solidFill>
                  <a:schemeClr val="lt1"/>
                </a:solidFill>
                <a:latin typeface="Verdana"/>
                <a:ea typeface="Verdana"/>
                <a:cs typeface="Verdana"/>
                <a:sym typeface="Verdana"/>
              </a:rPr>
              <a:t>Gamma, en 15 segundos</a:t>
            </a:r>
            <a:r>
              <a:rPr b="0" i="0" lang="es-419" sz="1500" u="none" cap="none" strike="noStrike">
                <a:solidFill>
                  <a:schemeClr val="lt1"/>
                </a:solidFill>
                <a:latin typeface="Verdana"/>
                <a:ea typeface="Verdana"/>
                <a:cs typeface="Verdana"/>
                <a:sym typeface="Verdana"/>
              </a:rPr>
              <a:t> tienes estructura, colores e imágenes. Hay que revisarla, pero te ahorra horas de formato.</a:t>
            </a:r>
            <a:endParaRPr b="0" i="0" sz="1500" u="none" cap="none" strike="noStrike">
              <a:solidFill>
                <a:schemeClr val="lt1"/>
              </a:solidFill>
              <a:latin typeface="Verdana"/>
              <a:ea typeface="Verdana"/>
              <a:cs typeface="Verdana"/>
              <a:sym typeface="Verdana"/>
            </a:endParaRPr>
          </a:p>
        </p:txBody>
      </p:sp>
      <p:sp>
        <p:nvSpPr>
          <p:cNvPr id="94" name="Google Shape;94;p18"/>
          <p:cNvSpPr txBox="1"/>
          <p:nvPr/>
        </p:nvSpPr>
        <p:spPr>
          <a:xfrm>
            <a:off x="3342647"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0" i="0" lang="es-419" sz="1500" u="none" cap="none" strike="noStrike">
                <a:solidFill>
                  <a:schemeClr val="lt1"/>
                </a:solidFill>
                <a:latin typeface="Verdana"/>
                <a:ea typeface="Verdana"/>
                <a:cs typeface="Verdana"/>
                <a:sym typeface="Verdana"/>
              </a:rPr>
              <a:t>¿Te llegó un PDF de 50 páginas un viernes a las 4? Sube el documento y pide </a:t>
            </a:r>
            <a:r>
              <a:rPr b="1" i="0" lang="es-419" sz="1500" u="none" cap="none" strike="noStrike">
                <a:solidFill>
                  <a:schemeClr val="lt1"/>
                </a:solidFill>
                <a:latin typeface="Verdana"/>
                <a:ea typeface="Verdana"/>
                <a:cs typeface="Verdana"/>
                <a:sym typeface="Verdana"/>
              </a:rPr>
              <a:t>5 puntos clave y 3 riesgos</a:t>
            </a:r>
            <a:r>
              <a:rPr b="0" i="0" lang="es-419" sz="1500" u="none" cap="none" strike="noStrike">
                <a:solidFill>
                  <a:schemeClr val="lt1"/>
                </a:solidFill>
                <a:latin typeface="Verdana"/>
                <a:ea typeface="Verdana"/>
                <a:cs typeface="Verdana"/>
                <a:sym typeface="Verdana"/>
              </a:rPr>
              <a:t>. En 10 segundos sabes si debes leerlo completo o solo la página 14.</a:t>
            </a:r>
            <a:endParaRPr b="0" i="0" sz="1500" u="none" cap="none" strike="noStrike">
              <a:solidFill>
                <a:schemeClr val="lt1"/>
              </a:solidFill>
              <a:latin typeface="Verdana"/>
              <a:ea typeface="Verdana"/>
              <a:cs typeface="Verdana"/>
              <a:sym typeface="Verdana"/>
            </a:endParaRPr>
          </a:p>
        </p:txBody>
      </p:sp>
      <p:sp>
        <p:nvSpPr>
          <p:cNvPr id="95" name="Google Shape;95;p18"/>
          <p:cNvSpPr txBox="1"/>
          <p:nvPr/>
        </p:nvSpPr>
        <p:spPr>
          <a:xfrm>
            <a:off x="5896538"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1" i="0" lang="es-419" sz="1500" u="none" cap="none" strike="noStrike">
                <a:solidFill>
                  <a:schemeClr val="lt1"/>
                </a:solidFill>
                <a:latin typeface="Verdana"/>
                <a:ea typeface="Verdana"/>
                <a:cs typeface="Verdana"/>
                <a:sym typeface="Verdana"/>
              </a:rPr>
              <a:t>Dos herramientas para </a:t>
            </a:r>
            <a:r>
              <a:rPr b="0" i="0" lang="es-419" sz="1500" u="none" cap="none" strike="noStrike">
                <a:solidFill>
                  <a:schemeClr val="lt1"/>
                </a:solidFill>
                <a:latin typeface="Verdana"/>
                <a:ea typeface="Verdana"/>
                <a:cs typeface="Verdana"/>
                <a:sym typeface="Verdana"/>
              </a:rPr>
              <a:t>aliviar la fricción del día a día: menos tiempo en formato, menos ansiedad frente a documentos largos. El tiempo que ganan vuelve a lo que sí requiere su criterio.</a:t>
            </a:r>
            <a:endParaRPr b="0" i="0" sz="1500" u="none" cap="none" strike="noStrike">
              <a:solidFill>
                <a:schemeClr val="lt1"/>
              </a:solidFill>
              <a:latin typeface="Verdana"/>
              <a:ea typeface="Verdana"/>
              <a:cs typeface="Verdana"/>
              <a:sym typeface="Verdana"/>
            </a:endParaRPr>
          </a:p>
        </p:txBody>
      </p:sp>
      <p:sp>
        <p:nvSpPr>
          <p:cNvPr id="96" name="Google Shape;96;p18"/>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chemeClr val="lt1"/>
                </a:solidFill>
                <a:latin typeface="Verdana"/>
                <a:ea typeface="Verdana"/>
                <a:cs typeface="Verdana"/>
                <a:sym typeface="Verdana"/>
              </a:rPr>
              <a:t>Demos 3 y 4 · Aliviar la fricción del día a día</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2" name="Google Shape;102;p19"/>
          <p:cNvSpPr txBox="1"/>
          <p:nvPr/>
        </p:nvSpPr>
        <p:spPr>
          <a:xfrm>
            <a:off x="725654" y="2462213"/>
            <a:ext cx="2521800" cy="1515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rgbClr val="25306B"/>
                </a:solidFill>
                <a:latin typeface="Verdana"/>
                <a:ea typeface="Verdana"/>
                <a:cs typeface="Verdana"/>
                <a:sym typeface="Verdana"/>
              </a:rPr>
              <a:t>Cuando tienes que dar una mala noticia y te quedas mirando la pantalla en blanco, la IA </a:t>
            </a:r>
            <a:r>
              <a:rPr b="1" i="0" lang="es-419" sz="1500" u="none" cap="none" strike="noStrike">
                <a:solidFill>
                  <a:srgbClr val="25306B"/>
                </a:solidFill>
                <a:latin typeface="Verdana"/>
                <a:ea typeface="Verdana"/>
                <a:cs typeface="Verdana"/>
                <a:sym typeface="Verdana"/>
              </a:rPr>
              <a:t>entrega un borrador con empatía y claridad</a:t>
            </a:r>
            <a:r>
              <a:rPr b="0" i="0" lang="es-419" sz="1500" u="none" cap="none" strike="noStrike">
                <a:solidFill>
                  <a:srgbClr val="25306B"/>
                </a:solidFill>
                <a:latin typeface="Verdana"/>
                <a:ea typeface="Verdana"/>
                <a:cs typeface="Verdana"/>
                <a:sym typeface="Verdana"/>
              </a:rPr>
              <a:t>. Cambias tres palabras y listo: desaparece la ansiedad de la página en blanco.</a:t>
            </a:r>
            <a:endParaRPr b="0" i="0" sz="1500" u="none" cap="none" strike="noStrike">
              <a:solidFill>
                <a:srgbClr val="25306B"/>
              </a:solidFill>
              <a:latin typeface="Verdana"/>
              <a:ea typeface="Verdana"/>
              <a:cs typeface="Verdana"/>
              <a:sym typeface="Verdana"/>
            </a:endParaRPr>
          </a:p>
        </p:txBody>
      </p:sp>
      <p:sp>
        <p:nvSpPr>
          <p:cNvPr id="103" name="Google Shape;103;p19"/>
          <p:cNvSpPr txBox="1"/>
          <p:nvPr/>
        </p:nvSpPr>
        <p:spPr>
          <a:xfrm>
            <a:off x="3342647"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0" i="0" lang="es-419" sz="1500" u="none" cap="none" strike="noStrike">
                <a:solidFill>
                  <a:srgbClr val="25306B"/>
                </a:solidFill>
                <a:latin typeface="Verdana"/>
                <a:ea typeface="Verdana"/>
                <a:cs typeface="Verdana"/>
                <a:sym typeface="Verdana"/>
              </a:rPr>
              <a:t>Copiar y pegar en un traductor funciona, pero el contexto técnico a veces se pierde. Con un prompt bien planteado, la IA </a:t>
            </a:r>
            <a:r>
              <a:rPr b="1" i="0" lang="es-419" sz="1500" u="none" cap="none" strike="noStrike">
                <a:solidFill>
                  <a:srgbClr val="25306B"/>
                </a:solidFill>
                <a:latin typeface="Verdana"/>
                <a:ea typeface="Verdana"/>
                <a:cs typeface="Verdana"/>
                <a:sym typeface="Verdana"/>
              </a:rPr>
              <a:t>entiende el contexto institucional</a:t>
            </a:r>
            <a:r>
              <a:rPr b="0" i="0" lang="es-419" sz="1500" u="none" cap="none" strike="noStrike">
                <a:solidFill>
                  <a:srgbClr val="25306B"/>
                </a:solidFill>
                <a:latin typeface="Verdana"/>
                <a:ea typeface="Verdana"/>
                <a:cs typeface="Verdana"/>
                <a:sym typeface="Verdana"/>
              </a:rPr>
              <a:t> y adapta el lenguaje técnico al contexto de una institución pública chilena.</a:t>
            </a:r>
            <a:endParaRPr b="0" i="0" sz="1500" u="none" cap="none" strike="noStrike">
              <a:solidFill>
                <a:srgbClr val="25306B"/>
              </a:solidFill>
              <a:latin typeface="Verdana"/>
              <a:ea typeface="Verdana"/>
              <a:cs typeface="Verdana"/>
              <a:sym typeface="Verdana"/>
            </a:endParaRPr>
          </a:p>
        </p:txBody>
      </p:sp>
      <p:sp>
        <p:nvSpPr>
          <p:cNvPr id="104" name="Google Shape;104;p19"/>
          <p:cNvSpPr txBox="1"/>
          <p:nvPr/>
        </p:nvSpPr>
        <p:spPr>
          <a:xfrm>
            <a:off x="5896538"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1" i="0" lang="es-419" sz="1500" u="none" cap="none" strike="noStrike">
                <a:solidFill>
                  <a:srgbClr val="25306B"/>
                </a:solidFill>
                <a:latin typeface="Verdana"/>
                <a:ea typeface="Verdana"/>
                <a:cs typeface="Verdana"/>
                <a:sym typeface="Verdana"/>
              </a:rPr>
              <a:t>Dos tareas que cuestan tiempo y energía emocional pueden resolverse en </a:t>
            </a:r>
            <a:r>
              <a:rPr b="0" i="0" lang="es-419" sz="1500" u="none" cap="none" strike="noStrike">
                <a:solidFill>
                  <a:srgbClr val="25306B"/>
                </a:solidFill>
                <a:latin typeface="Verdana"/>
                <a:ea typeface="Verdana"/>
                <a:cs typeface="Verdana"/>
                <a:sym typeface="Verdana"/>
              </a:rPr>
              <a:t>minutos, no en horas. El profesional sigue al mando: la IA propone el borrador, ustedes deciden qué se queda.</a:t>
            </a:r>
            <a:endParaRPr b="0" i="0" sz="1500" u="none" cap="none" strike="noStrike">
              <a:solidFill>
                <a:srgbClr val="25306B"/>
              </a:solidFill>
              <a:latin typeface="Verdana"/>
              <a:ea typeface="Verdana"/>
              <a:cs typeface="Verdana"/>
              <a:sym typeface="Verdana"/>
            </a:endParaRPr>
          </a:p>
        </p:txBody>
      </p:sp>
      <p:sp>
        <p:nvSpPr>
          <p:cNvPr id="105" name="Google Shape;105;p19"/>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rgbClr val="2E3192"/>
                </a:solidFill>
                <a:latin typeface="Verdana"/>
                <a:ea typeface="Verdana"/>
                <a:cs typeface="Verdana"/>
                <a:sym typeface="Verdana"/>
              </a:rPr>
              <a:t>Demos 5 y 6 · Correo difícil y traducción con contexto</a:t>
            </a:r>
            <a:endParaRPr b="0" i="0" sz="1100" u="none" cap="none" strike="noStrike">
              <a:solidFill>
                <a:srgbClr val="2E319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0"/>
          <p:cNvPicPr preferRelativeResize="0"/>
          <p:nvPr/>
        </p:nvPicPr>
        <p:blipFill rotWithShape="1">
          <a:blip r:embed="rId3">
            <a:alphaModFix/>
          </a:blip>
          <a:srcRect b="0" l="0" r="0" t="0"/>
          <a:stretch/>
        </p:blipFill>
        <p:spPr>
          <a:xfrm>
            <a:off x="2379" y="1339"/>
            <a:ext cx="9139239" cy="5140822"/>
          </a:xfrm>
          <a:prstGeom prst="rect">
            <a:avLst/>
          </a:prstGeom>
          <a:noFill/>
          <a:ln>
            <a:noFill/>
          </a:ln>
        </p:spPr>
      </p:pic>
      <p:sp>
        <p:nvSpPr>
          <p:cNvPr id="111" name="Google Shape;111;p20"/>
          <p:cNvSpPr txBox="1"/>
          <p:nvPr/>
        </p:nvSpPr>
        <p:spPr>
          <a:xfrm>
            <a:off x="628638" y="2220144"/>
            <a:ext cx="4901700" cy="1422900"/>
          </a:xfrm>
          <a:prstGeom prst="rect">
            <a:avLst/>
          </a:prstGeom>
          <a:noFill/>
          <a:ln>
            <a:noFill/>
          </a:ln>
        </p:spPr>
        <p:txBody>
          <a:bodyPr anchorCtr="0" anchor="t" bIns="34275" lIns="68575" spcFirstLastPara="1" rIns="68575" wrap="square" tIns="34275">
            <a:normAutofit/>
          </a:bodyPr>
          <a:lstStyle/>
          <a:p>
            <a:pPr indent="-254000" lvl="0" marL="254000" marR="0" rtl="0" algn="l">
              <a:lnSpc>
                <a:spcPct val="90000"/>
              </a:lnSpc>
              <a:spcBef>
                <a:spcPts val="0"/>
              </a:spcBef>
              <a:spcAft>
                <a:spcPts val="0"/>
              </a:spcAft>
              <a:buClr>
                <a:srgbClr val="FFFFFF"/>
              </a:buClr>
              <a:buSzPts val="1400"/>
              <a:buFont typeface="Arial"/>
              <a:buChar char="•"/>
            </a:pPr>
            <a:r>
              <a:rPr b="1" i="0" lang="es-419" sz="1400" u="none" cap="none" strike="noStrike">
                <a:solidFill>
                  <a:srgbClr val="FFFFFF"/>
                </a:solidFill>
                <a:latin typeface="Verdana"/>
                <a:ea typeface="Verdana"/>
                <a:cs typeface="Verdana"/>
                <a:sym typeface="Verdana"/>
              </a:rPr>
              <a:t>Alucinaciones. La IA puede mentir con seguridad: inventa datos, leyes y cifras que suenan reales. Siempre verifiquen antes de usar cualquier dato en un documento oficial.</a:t>
            </a:r>
            <a:endParaRPr b="0" i="0" sz="1500" u="none" cap="none" strike="noStrike">
              <a:solidFill>
                <a:srgbClr val="0C4581"/>
              </a:solidFill>
              <a:latin typeface="Verdana"/>
              <a:ea typeface="Verdana"/>
              <a:cs typeface="Verdana"/>
              <a:sym typeface="Verdana"/>
            </a:endParaRPr>
          </a:p>
          <a:p>
            <a:pPr indent="-254000" lvl="0" marL="254000" marR="0" rtl="0" algn="l">
              <a:lnSpc>
                <a:spcPct val="90000"/>
              </a:lnSpc>
              <a:spcBef>
                <a:spcPts val="800"/>
              </a:spcBef>
              <a:spcAft>
                <a:spcPts val="0"/>
              </a:spcAft>
              <a:buClr>
                <a:srgbClr val="FFFFFF"/>
              </a:buClr>
              <a:buSzPts val="1400"/>
              <a:buFont typeface="Arial"/>
              <a:buChar char="•"/>
            </a:pPr>
            <a:r>
              <a:rPr b="1" i="0" lang="es-419" sz="1400" u="none" cap="none" strike="noStrike">
                <a:solidFill>
                  <a:srgbClr val="FFFFFF"/>
                </a:solidFill>
                <a:latin typeface="Verdana"/>
                <a:ea typeface="Verdana"/>
                <a:cs typeface="Verdana"/>
                <a:sym typeface="Verdana"/>
              </a:rPr>
              <a:t>Privacidad de datos. No suban a estas herramientas datos sensibles: nombres, RUT, información reservada. Trátenla como a un conocido de la calle.</a:t>
            </a:r>
            <a:endParaRPr b="0" i="0" sz="1500" u="none" cap="none" strike="noStrike">
              <a:solidFill>
                <a:srgbClr val="0C4581"/>
              </a:solidFill>
              <a:latin typeface="Verdana"/>
              <a:ea typeface="Verdana"/>
              <a:cs typeface="Verdana"/>
              <a:sym typeface="Verdana"/>
            </a:endParaRPr>
          </a:p>
          <a:p>
            <a:pPr indent="-254000" lvl="0" marL="254000" marR="0" rtl="0" algn="l">
              <a:lnSpc>
                <a:spcPct val="90000"/>
              </a:lnSpc>
              <a:spcBef>
                <a:spcPts val="800"/>
              </a:spcBef>
              <a:spcAft>
                <a:spcPts val="0"/>
              </a:spcAft>
              <a:buClr>
                <a:srgbClr val="FFFFFF"/>
              </a:buClr>
              <a:buSzPts val="1400"/>
              <a:buFont typeface="Arial"/>
              <a:buChar char="•"/>
            </a:pPr>
            <a:r>
              <a:rPr b="1" i="0" lang="es-419" sz="1400" u="none" cap="none" strike="noStrike">
                <a:solidFill>
                  <a:srgbClr val="FFFFFF"/>
                </a:solidFill>
                <a:latin typeface="Verdana"/>
                <a:ea typeface="Verdana"/>
                <a:cs typeface="Verdana"/>
                <a:sym typeface="Verdana"/>
              </a:rPr>
              <a:t>Responsabilidad final. La IA genera borradores; quien firma y se hace cargo del contenido son ustedes. El criterio profesional no se delega.</a:t>
            </a:r>
            <a:endParaRPr b="0" i="0" sz="1500" u="none" cap="none" strike="noStrike">
              <a:solidFill>
                <a:srgbClr val="0C4581"/>
              </a:solidFill>
              <a:latin typeface="Verdana"/>
              <a:ea typeface="Verdana"/>
              <a:cs typeface="Verdana"/>
              <a:sym typeface="Verdana"/>
            </a:endParaRPr>
          </a:p>
          <a:p>
            <a:pPr indent="-254000" lvl="0" marL="254000" marR="0" rtl="0" algn="l">
              <a:lnSpc>
                <a:spcPct val="90000"/>
              </a:lnSpc>
              <a:spcBef>
                <a:spcPts val="800"/>
              </a:spcBef>
              <a:spcAft>
                <a:spcPts val="0"/>
              </a:spcAft>
              <a:buClr>
                <a:srgbClr val="FFFFFF"/>
              </a:buClr>
              <a:buSzPts val="1400"/>
              <a:buFont typeface="Arial"/>
              <a:buChar char="•"/>
            </a:pPr>
            <a:r>
              <a:rPr b="1" i="0" lang="es-419" sz="1400" u="none" cap="none" strike="noStrike">
                <a:solidFill>
                  <a:srgbClr val="FFFFFF"/>
                </a:solidFill>
                <a:latin typeface="Verdana"/>
                <a:ea typeface="Verdana"/>
                <a:cs typeface="Verdana"/>
                <a:sym typeface="Verdana"/>
              </a:rPr>
              <a:t>La IA es un apoyo, no un reemplazo. Las decisiones, la verificación y la firma siguen siendo suyas.</a:t>
            </a:r>
            <a:endParaRPr b="0" i="0" sz="1500" u="none" cap="none" strike="noStrike">
              <a:solidFill>
                <a:srgbClr val="0C4581"/>
              </a:solidFill>
              <a:latin typeface="Verdana"/>
              <a:ea typeface="Verdana"/>
              <a:cs typeface="Verdana"/>
              <a:sym typeface="Verdana"/>
            </a:endParaRPr>
          </a:p>
          <a:p>
            <a:pPr indent="-165100" lvl="0" marL="254000" marR="0" rtl="0" algn="l">
              <a:lnSpc>
                <a:spcPct val="90000"/>
              </a:lnSpc>
              <a:spcBef>
                <a:spcPts val="800"/>
              </a:spcBef>
              <a:spcAft>
                <a:spcPts val="0"/>
              </a:spcAft>
              <a:buClr>
                <a:srgbClr val="000000"/>
              </a:buClr>
              <a:buSzPts val="1400"/>
              <a:buFont typeface="Arial"/>
              <a:buNone/>
            </a:pPr>
            <a:r>
              <a:t/>
            </a:r>
            <a:endParaRPr b="0" i="0" sz="1400" u="none" cap="none" strike="noStrike">
              <a:solidFill>
                <a:srgbClr val="0C4581"/>
              </a:solidFill>
              <a:latin typeface="Verdana"/>
              <a:ea typeface="Verdana"/>
              <a:cs typeface="Verdana"/>
              <a:sym typeface="Verdana"/>
            </a:endParaRPr>
          </a:p>
        </p:txBody>
      </p:sp>
      <p:pic>
        <p:nvPicPr>
          <p:cNvPr id="112" name="Google Shape;112;p20"/>
          <p:cNvPicPr preferRelativeResize="0"/>
          <p:nvPr/>
        </p:nvPicPr>
        <p:blipFill rotWithShape="1">
          <a:blip r:embed="rId4">
            <a:alphaModFix/>
          </a:blip>
          <a:srcRect b="0" l="53194" r="0" t="0"/>
          <a:stretch/>
        </p:blipFill>
        <p:spPr>
          <a:xfrm>
            <a:off x="5530338" y="522840"/>
            <a:ext cx="3478488" cy="4171707"/>
          </a:xfrm>
          <a:prstGeom prst="rect">
            <a:avLst/>
          </a:prstGeom>
          <a:noFill/>
          <a:ln>
            <a:noFill/>
          </a:ln>
        </p:spPr>
      </p:pic>
      <p:sp>
        <p:nvSpPr>
          <p:cNvPr id="113" name="Google Shape;113;p20"/>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chemeClr val="lt1"/>
                </a:solidFill>
                <a:latin typeface="Verdana"/>
                <a:ea typeface="Verdana"/>
                <a:cs typeface="Verdana"/>
                <a:sym typeface="Verdana"/>
              </a:rPr>
              <a:t>Esto también tiene riesgos</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9" name="Google Shape;119;p21"/>
          <p:cNvSpPr txBox="1"/>
          <p:nvPr/>
        </p:nvSpPr>
        <p:spPr>
          <a:xfrm>
            <a:off x="2800847" y="1960713"/>
            <a:ext cx="5466300" cy="26883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rgbClr val="25306B"/>
                </a:solidFill>
                <a:latin typeface="Verdana"/>
                <a:ea typeface="Verdana"/>
                <a:cs typeface="Verdana"/>
                <a:sym typeface="Verdana"/>
              </a:rPr>
              <a:t>No venimos a decirles cómo hacer su trabajo. Ustedes son los expertos en fiscalización, bosques y presupuestos. Nosotros somos el </a:t>
            </a:r>
            <a:r>
              <a:rPr b="1" i="0" lang="es-419" sz="1500" u="none" cap="none" strike="noStrike">
                <a:solidFill>
                  <a:srgbClr val="25306B"/>
                </a:solidFill>
                <a:latin typeface="Verdana"/>
                <a:ea typeface="Verdana"/>
                <a:cs typeface="Verdana"/>
                <a:sym typeface="Verdana"/>
              </a:rPr>
              <a:t>puente hacia las herramientas</a:t>
            </a:r>
            <a:r>
              <a:rPr b="0" i="0" lang="es-419" sz="1500" u="none" cap="none" strike="noStrike">
                <a:solidFill>
                  <a:srgbClr val="25306B"/>
                </a:solidFill>
                <a:latin typeface="Verdana"/>
                <a:ea typeface="Verdana"/>
                <a:cs typeface="Verdana"/>
                <a:sym typeface="Verdana"/>
              </a:rPr>
              <a:t>: les ayudamos a evaluar qué solución se adapta a su equipo, a estructurar los prompts correctos y a </a:t>
            </a:r>
            <a:r>
              <a:rPr b="1" i="0" lang="es-419" sz="1500" u="none" cap="none" strike="noStrike">
                <a:solidFill>
                  <a:srgbClr val="25306B"/>
                </a:solidFill>
                <a:latin typeface="Verdana"/>
                <a:ea typeface="Verdana"/>
                <a:cs typeface="Verdana"/>
                <a:sym typeface="Verdana"/>
              </a:rPr>
              <a:t>integrar la IA en sus procesos</a:t>
            </a:r>
            <a:r>
              <a:rPr b="0" i="0" lang="es-419" sz="1500" u="none" cap="none" strike="noStrike">
                <a:solidFill>
                  <a:srgbClr val="25306B"/>
                </a:solidFill>
                <a:latin typeface="Verdana"/>
                <a:ea typeface="Verdana"/>
                <a:cs typeface="Verdana"/>
                <a:sym typeface="Verdana"/>
              </a:rPr>
              <a:t> sin saltarse la seguridad ni la confidencialidad que exige la institución.</a:t>
            </a:r>
            <a:endParaRPr b="0" i="0" sz="1500" u="none" cap="none" strike="noStrike">
              <a:solidFill>
                <a:srgbClr val="25306B"/>
              </a:solidFill>
              <a:latin typeface="Verdana"/>
              <a:ea typeface="Verdana"/>
              <a:cs typeface="Verdana"/>
              <a:sym typeface="Verdana"/>
            </a:endParaRPr>
          </a:p>
        </p:txBody>
      </p:sp>
      <p:sp>
        <p:nvSpPr>
          <p:cNvPr id="120" name="Google Shape;120;p21"/>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rgbClr val="25306B"/>
                </a:solidFill>
                <a:latin typeface="Verdana"/>
                <a:ea typeface="Verdana"/>
                <a:cs typeface="Verdana"/>
                <a:sym typeface="Verdana"/>
              </a:rPr>
              <a:t>¿Para qué sirve nuestra Unidad?</a:t>
            </a:r>
            <a:endParaRPr b="0" i="0" sz="1100" u="none" cap="none" strike="noStrike">
              <a:solidFill>
                <a:srgbClr val="25306B"/>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6" name="Google Shape;126;p22"/>
          <p:cNvSpPr txBox="1"/>
          <p:nvPr/>
        </p:nvSpPr>
        <p:spPr>
          <a:xfrm>
            <a:off x="725654" y="2462213"/>
            <a:ext cx="2521800" cy="15156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500"/>
              <a:buFont typeface="Arial"/>
              <a:buNone/>
            </a:pPr>
            <a:r>
              <a:rPr b="0" i="0" lang="es-419" sz="1500" u="none" cap="none" strike="noStrike">
                <a:solidFill>
                  <a:srgbClr val="25306B"/>
                </a:solidFill>
                <a:latin typeface="Verdana"/>
                <a:ea typeface="Verdana"/>
                <a:cs typeface="Verdana"/>
                <a:sym typeface="Verdana"/>
              </a:rPr>
              <a:t>Ustedes aportan el </a:t>
            </a:r>
            <a:r>
              <a:rPr b="1" i="0" lang="es-419" sz="1500" u="none" cap="none" strike="noStrike">
                <a:solidFill>
                  <a:srgbClr val="25306B"/>
                </a:solidFill>
                <a:latin typeface="Verdana"/>
                <a:ea typeface="Verdana"/>
                <a:cs typeface="Verdana"/>
                <a:sym typeface="Verdana"/>
              </a:rPr>
              <a:t>conocimiento del negocio</a:t>
            </a:r>
            <a:r>
              <a:rPr b="0" i="0" lang="es-419" sz="1500" u="none" cap="none" strike="noStrike">
                <a:solidFill>
                  <a:srgbClr val="25306B"/>
                </a:solidFill>
                <a:latin typeface="Verdana"/>
                <a:ea typeface="Verdana"/>
                <a:cs typeface="Verdana"/>
                <a:sym typeface="Verdana"/>
              </a:rPr>
              <a:t>: fiscalización, territorio, presupuestos y los procesos operativos de CONAF.</a:t>
            </a:r>
            <a:endParaRPr b="0" i="0" sz="1500" u="none" cap="none" strike="noStrike">
              <a:solidFill>
                <a:srgbClr val="25306B"/>
              </a:solidFill>
              <a:latin typeface="Verdana"/>
              <a:ea typeface="Verdana"/>
              <a:cs typeface="Verdana"/>
              <a:sym typeface="Verdana"/>
            </a:endParaRPr>
          </a:p>
        </p:txBody>
      </p:sp>
      <p:sp>
        <p:nvSpPr>
          <p:cNvPr id="127" name="Google Shape;127;p22"/>
          <p:cNvSpPr txBox="1"/>
          <p:nvPr/>
        </p:nvSpPr>
        <p:spPr>
          <a:xfrm>
            <a:off x="3342647"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0" i="0" lang="es-419" sz="1500" u="none" cap="none" strike="noStrike">
                <a:solidFill>
                  <a:srgbClr val="25306B"/>
                </a:solidFill>
                <a:latin typeface="Verdana"/>
                <a:ea typeface="Verdana"/>
                <a:cs typeface="Verdana"/>
                <a:sym typeface="Verdana"/>
              </a:rPr>
              <a:t>Nosotros aportamos el </a:t>
            </a:r>
            <a:r>
              <a:rPr b="1" i="0" lang="es-419" sz="1500" u="none" cap="none" strike="noStrike">
                <a:solidFill>
                  <a:srgbClr val="25306B"/>
                </a:solidFill>
                <a:latin typeface="Verdana"/>
                <a:ea typeface="Verdana"/>
                <a:cs typeface="Verdana"/>
                <a:sym typeface="Verdana"/>
              </a:rPr>
              <a:t>conocimiento de las herramientas</a:t>
            </a:r>
            <a:r>
              <a:rPr b="0" i="0" lang="es-419" sz="1500" u="none" cap="none" strike="noStrike">
                <a:solidFill>
                  <a:srgbClr val="25306B"/>
                </a:solidFill>
                <a:latin typeface="Verdana"/>
                <a:ea typeface="Verdana"/>
                <a:cs typeface="Verdana"/>
                <a:sym typeface="Verdana"/>
              </a:rPr>
              <a:t>: qué IA usar en cada caso, cómo usarla bien y con seguridad.</a:t>
            </a:r>
            <a:endParaRPr b="0" i="0" sz="1500" u="none" cap="none" strike="noStrike">
              <a:solidFill>
                <a:srgbClr val="25306B"/>
              </a:solidFill>
              <a:latin typeface="Verdana"/>
              <a:ea typeface="Verdana"/>
              <a:cs typeface="Verdana"/>
              <a:sym typeface="Verdana"/>
            </a:endParaRPr>
          </a:p>
        </p:txBody>
      </p:sp>
      <p:sp>
        <p:nvSpPr>
          <p:cNvPr id="128" name="Google Shape;128;p22"/>
          <p:cNvSpPr txBox="1"/>
          <p:nvPr/>
        </p:nvSpPr>
        <p:spPr>
          <a:xfrm>
            <a:off x="5896538" y="2462213"/>
            <a:ext cx="2521800" cy="1515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FFFFF"/>
              </a:buClr>
              <a:buSzPts val="1500"/>
              <a:buFont typeface="Arial"/>
              <a:buNone/>
            </a:pPr>
            <a:r>
              <a:rPr b="1" i="0" lang="es-419" sz="1500" u="none" cap="none" strike="noStrike">
                <a:solidFill>
                  <a:srgbClr val="25306B"/>
                </a:solidFill>
                <a:latin typeface="Verdana"/>
                <a:ea typeface="Verdana"/>
                <a:cs typeface="Verdana"/>
                <a:sym typeface="Verdana"/>
              </a:rPr>
              <a:t>Juntos logramos que CONAF trabaje </a:t>
            </a:r>
            <a:r>
              <a:rPr b="0" i="0" lang="es-419" sz="1500" u="none" cap="none" strike="noStrike">
                <a:solidFill>
                  <a:srgbClr val="25306B"/>
                </a:solidFill>
                <a:latin typeface="Verdana"/>
                <a:ea typeface="Verdana"/>
                <a:cs typeface="Verdana"/>
                <a:sym typeface="Verdana"/>
              </a:rPr>
              <a:t>mejor, más rápido y con menos fricción en el día a día.</a:t>
            </a:r>
            <a:endParaRPr b="0" i="0" sz="1500" u="none" cap="none" strike="noStrike">
              <a:solidFill>
                <a:srgbClr val="25306B"/>
              </a:solidFill>
              <a:latin typeface="Verdana"/>
              <a:ea typeface="Verdana"/>
              <a:cs typeface="Verdana"/>
              <a:sym typeface="Verdana"/>
            </a:endParaRPr>
          </a:p>
        </p:txBody>
      </p:sp>
      <p:sp>
        <p:nvSpPr>
          <p:cNvPr id="129" name="Google Shape;129;p22"/>
          <p:cNvSpPr txBox="1"/>
          <p:nvPr/>
        </p:nvSpPr>
        <p:spPr>
          <a:xfrm>
            <a:off x="628657" y="983770"/>
            <a:ext cx="7886700" cy="38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2100"/>
              <a:buFont typeface="Arial"/>
              <a:buNone/>
            </a:pPr>
            <a:r>
              <a:rPr b="1" i="0" lang="es-419" sz="2100" u="none" cap="none" strike="noStrike">
                <a:solidFill>
                  <a:srgbClr val="2E3192"/>
                </a:solidFill>
                <a:latin typeface="Verdana"/>
                <a:ea typeface="Verdana"/>
                <a:cs typeface="Verdana"/>
                <a:sym typeface="Verdana"/>
              </a:rPr>
              <a:t>El modelo de colaboración</a:t>
            </a:r>
            <a:endParaRPr b="0" i="0" sz="1100" u="none" cap="none" strike="noStrike">
              <a:solidFill>
                <a:srgbClr val="2E319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rotWithShape="1">
          <a:blip r:embed="rId3">
            <a:alphaModFix/>
          </a:blip>
          <a:srcRect b="0" l="0" r="0" t="0"/>
          <a:stretch/>
        </p:blipFill>
        <p:spPr>
          <a:xfrm>
            <a:off x="0" y="1042"/>
            <a:ext cx="9143998" cy="5143498"/>
          </a:xfrm>
          <a:prstGeom prst="rect">
            <a:avLst/>
          </a:prstGeom>
          <a:noFill/>
          <a:ln>
            <a:noFill/>
          </a:ln>
        </p:spPr>
      </p:pic>
      <p:sp>
        <p:nvSpPr>
          <p:cNvPr id="135" name="Google Shape;135;p23"/>
          <p:cNvSpPr txBox="1"/>
          <p:nvPr/>
        </p:nvSpPr>
        <p:spPr>
          <a:xfrm>
            <a:off x="628657" y="1200000"/>
            <a:ext cx="7886700" cy="800000"/>
          </a:xfrm>
          <a:prstGeom prst="rect">
            <a:avLst/>
          </a:prstGeom>
          <a:noFill/>
          <a:ln>
            <a:noFill/>
          </a:ln>
        </p:spPr>
        <p:txBody>
          <a:bodyPr anchorCtr="0" anchor="t" bIns="34275" lIns="68575" spcFirstLastPara="1" rIns="68575" wrap="square" tIns="34275">
            <a:normAutofit/>
          </a:bodyPr>
          <a:lstStyle/>
          <a:p>
            <a:pPr indent="0" lvl="0" marL="0" marR="0" rtl="0" algn="ctr">
              <a:lnSpc>
                <a:spcPct val="90000"/>
              </a:lnSpc>
              <a:spcBef>
                <a:spcPts val="0"/>
              </a:spcBef>
              <a:spcAft>
                <a:spcPts val="0"/>
              </a:spcAft>
              <a:buClr>
                <a:srgbClr val="000000"/>
              </a:buClr>
              <a:buSzPts val="4000"/>
              <a:buFont typeface="Arial"/>
              <a:buNone/>
            </a:pPr>
            <a:r>
              <a:rPr b="1" i="0" lang="es-419" sz="4000" u="none" cap="none" strike="noStrike">
                <a:solidFill>
                  <a:srgbClr val="FFFFFF"/>
                </a:solidFill>
                <a:latin typeface="Verdana"/>
                <a:ea typeface="Verdana"/>
                <a:cs typeface="Verdana"/>
                <a:sym typeface="Verdana"/>
              </a:rPr>
              <a:t>Muchas gracias.</a:t>
            </a:r>
            <a:endParaRPr b="1" i="0" sz="4000" u="none" cap="none" strike="noStrike">
              <a:solidFill>
                <a:srgbClr val="000000"/>
              </a:solidFill>
              <a:latin typeface="Arial"/>
              <a:ea typeface="Arial"/>
              <a:cs typeface="Arial"/>
              <a:sym typeface="Arial"/>
            </a:endParaRPr>
          </a:p>
          <a:p>
            <a:pPr indent="0" lvl="0" marL="0" marR="0" rtl="0" algn="ctr">
              <a:lnSpc>
                <a:spcPct val="90000"/>
              </a:lnSpc>
              <a:spcBef>
                <a:spcPts val="400"/>
              </a:spcBef>
              <a:spcAft>
                <a:spcPts val="0"/>
              </a:spcAft>
              <a:buClr>
                <a:srgbClr val="000000"/>
              </a:buClr>
              <a:buSzPts val="2400"/>
              <a:buFont typeface="Arial"/>
              <a:buNone/>
            </a:pPr>
            <a:r>
              <a:rPr b="0" i="0" lang="es-419" sz="2400" u="none" cap="none" strike="noStrike">
                <a:solidFill>
                  <a:srgbClr val="FFFFFF"/>
                </a:solidFill>
                <a:latin typeface="Verdana"/>
                <a:ea typeface="Verdana"/>
                <a:cs typeface="Verdana"/>
                <a:sym typeface="Verdana"/>
              </a:rPr>
              <a:t>¿Preguntas?</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